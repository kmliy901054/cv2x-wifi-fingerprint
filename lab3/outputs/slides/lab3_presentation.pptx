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這份報告講的是一個過程,不是單一模型。題目是用 Lab 2 收的 WiFi 訊號強度,幫機器人在室內定位。我會從最簡單的 KNN 基準線開始,一步一步說明每次卡關、為什麼換方法,最後怎麼把中位數誤差從 1.57 公尺壓到 0.75 公尺。但這份報告真正的重點不只是數字變小,而是誠實:我們一度跑出 0.65 公尺,卻自己揪出那是在測試集上挑出來的假象,並用最嚴格的巢狀交叉驗證把真實泛化釘回來,得到約 0.95。請記住兩個數字,一個是標準協定的 0.75,一個是最嚴格的 0.95,整場我都會用同一套口徑。最後還會放一段在實驗室裡用真 ESP32 即時跑的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先給一張路線圖,讓老師清楚知道四個規定的段落我都會講到,但不是條列交代,而是串成一個工程故事。第一,題目定義:輸入是一筆長度會變的掃描,輸出是公尺座標,室內沒有 GPS。第二,做法:核心是 Set Transformer 編碼器,再從回歸轉成網格分類,最後是粗到細的 cascade。第三,資料集與切分:1812 筆掃描、四種切法,A 隨機切是主線,C 是早訓晚測最難。第四,實驗結果:從 1.57 到誠實的 0.75。畫面這張誠實線是貫穿全場的主軸,我故意先放這張而不是爬坡圖,因為這份工作我最驕傲的就是抓出自己的過擬合——那個 0.65 是假象,0.75 才是誠實標題。爬坡圖留到後面正式揭曉。</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進入第一個規定段落:題目定義。這一段我只做一件事,把輸入、輸出、還有為什麼難講清楚,因為後面每一個方法的轉折,都是在回應這裡列出的某一個難點。</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把題目定清楚。輸入是一筆 WiFi 掃描,本質上是一個集合:一堆 BSSID 跟它的 RSSI 配對,而且每一筆掃到的 AP 數量都不一樣,有時三四十個、有時只有十幾個。輸出是機器人在這個 189.5 平方公尺實驗室地圖上的座標,單位是公尺。為什麼用 WiFi?因為室內收不到 GPS,WiFi 指紋是傳統備案。重點是這題為什麼難,有四個原因並存,也是後面所有架構選擇的根源。第一,輸入是變動長度的集合,不是固定向量,這正是之後改用 Set Transformer 的理由。第二,RSSI 是多峰又會混淆的,兩個長得很像的地點訊號幾乎一樣,這是後面改用網格分類的理由。第三,覆蓋很稀疏,沿路徑而不是均勻網格,這是後面加合成資料的理由。第四,地面真值是 AMCL 給的,本身就有約 0.3 公尺噪聲,這是準度的物理天花板。記住這四點,後面每一步都是在解其中一個。這張我刻意不放圖,讓四個難點本身當主角,覆蓋圖留到下一段的資料投影片第一次揭曉,衝擊力最大。</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進入第二個規定段落:資料集與切分。這一段我會先給資料全貌跟那個關鍵的覆蓋缺口,再說明我們刻意設計的四種切法各自在壓哪一個泛化軸,最後給每種切法的結果,把這個段落真正補滿。</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資料集的全貌,但請先看這張圖最重要的一件事:地圖上半部幾乎是空的。我們在約一百八十平方公尺的實驗室收了一千八百一十二筆掃描,早上九百一十二、晚上九百,刻意分兩時段,為了之後驗證跨時段泛化。最後切成訓練 1449、測試 363,等一下 splits 那張看到的 test=363 就是從這裡來的。每一筆掃描都是大小會變的 BSSID 與 RSSI 集合。一共看到一百一十五個 BSSID,只留出現過十次以上的八十個,其餘多半是鄰場進出的雜訊。地面真值由 ROS AMCL 給,本身帶約 0.3 公尺噪音,這是我們誤差的物理下限,不管模型多好都不可能比標籤本身準。記住這個上半部的空洞,它後面會一直回來:它對應到誤差熱區,也是我加合成資料的原因。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所有數字背後都要問一句:是哪一種切法算出來的?我們設了四種,每一種刻意壓一個不同的泛化軸。第一,A_random 是主力,全部資料隨機八二切,測試集 363 筆,我報的中位數預設都是這個切法,它告訴我們同分布下的準度天花板。第二,B_morning 同時段切,只用早上資料自己切,把模型本身好不好跟時段漂移隔開。第三,C 最難,用早上訓練、晚上測,跨時段中間有幾小時 RSSI 漂移,這是最考驗真本事的一關。第四,D 是早晚混合的分層切,防的是軌道順序造成的洩漏,避免相鄰軌跡點同時落在訓練跟測試裡反而高估。畫面這張是 A 切法下真實對預測的散點圖,點越靠對角線越準,讓老師先看到主切法的整體吻合程度;下一張我給每一種切法的數字,把這個段落補滿。一句話:A 看上限,B 看純模型力,C 看跨時段,D 防洩漏。</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這張是專門補上 splits 那張承諾、卻一直沒給數字的部分,也是回應老師對嚴謹度的要求。先誠實聲明:只有 A_random 的 0.75 是 cascade 完整重跑、確切測得的;B、C、D 因為時間限制,沒有對每個 phase 都重跑,這裡給的是根據早期 baseline 推得的估計值,我會明確標成估計,不會當成精確數字。趨勢很清楚也很合理:A 約 0.75,同時段的 B 約 0.85,涵蓋早晚的部署情境 D 約 0.90,而跨時段的 C 一口氣跳到約 2.3,差非常多。畫面右邊這張合成資料的長條圖正好佐證:合成資料在 A 大進步,但在 C 反而從 1.73 微升到 1.81,因為跨時段是另一個獨立的軸。結論一句話:同時段我們做得很好,跨時段是這份工作唯一沒解掉、也誠實承認的弱點,留到結論談未來方向。</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這張要下一個關鍵診斷,而且我把結論直接放在第一條:真正限制準度的是覆蓋,不是噪音,這是整份報告的主軸。先看噪音,同一格的 RSSI 標準差約 3.5 dBm,早晚中位漂移只差約 0.8 dBm,很小又很穩。右圖是早上對晚上的 RSSI 散點,點大致緊貼對角線,意思是訊號雖然吵卻可重複,同一位置不同時間量大致還是那個值。再看左圖,這才是重點:當一筆掃描能對到的已知 AP 太少時誤差陡升,一旦對到夠多就趨平。兩張拼起來說同一件事——你在哪裡不準,不是因為訊號太吵,而是那裡資料太少、能參考的 AP 太少。這個診斷直接決定方向:與其把網路加大,不如去補覆蓋,這就是後面用高斯過程生合成資料的動機,後面那張每格可靠度圖會正式為這個判斷蓋上一個句點。</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進入第三個規定段落:做法。接下來是整份報告的核心歷程,從最樸素的 KNN 開始,每換一次方法,都是在解前面點名過的某一個難點:變動長度、回歸取平均、覆蓋不足、對稱混淆。一步一步往下爬。</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從基準線開始。最經典的指紋定位就是 KNN:把一筆掃描攤成 80 維 RSSI 向量,沒掃到的 AP 填 -100,這個 -100 dBm 代表低於底噪、也就是沒收到。然後在 RSSI 空間找最近的五個鄰居,用距離加權平均它們的座標,完全不用訓練,純查表。要先說清楚,k=5 是事先決定的設定,不是在測試集上調出來的,免得有人問為什麼是五。畫面這張是它的管線圖。中位數誤差 1.57 公尺,是我刻意設的最樸素參考點。我強調:這不只是要打倒的對手,它定義了整場爬坡的起點,後面每個神經網路如果連 KNN 都贏不了就沒有存在理由。記住 1.57,等一下你會看到它怎麼一步步被砍掉一半。</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我把兩個教訓放到最上面,因為它們才是這張的主角,兩個數字是配角。畫面這張是 MaskedMDN 的結構,屬於下面那個 1.37 的版本,別跟 MLP 的 1.30 搞混。第一版神經網路只小贏 KNN,但釣出兩個各自獨立的問題,決定了後面整條路。教訓一是資料表示:把掃描硬塞成固定 80 維、缺的補 -100,模型有一半輸入都浪費在學著忽略填充。教訓二是回歸的死穴:當一筆訊號其實對應兩個可能位置,回歸會輸出兩者平均,落在中間,兩邊都不對。我們本來想用 MDN 的混合輸出來表達多峰,結果 1.37 沒比 1.30 好,證明光換成混合頭還不夠,多峰得靠後面的網格分類才解得乾淨。下一張先解第一個表示問題,平均的問題留到網格分類再算總帳。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第一個關鍵轉折,直接回應上一張的表示問題。一筆 WiFi 掃描本質就是一個大小會變的集合,不是固定向量;有時三四十個 AP,有時十幾個,硬塞成 80 維本身就錯。所以把每個掃到的 AP 當成一個 token,內容是該 BSSID 的 embedding 加上正規化的 RSSI,丟進 Set Transformer,做三層自注意力,再用 pooling-by-attention 壓成 192 維向量。這架構天生對順序不敏感——也就是同樣一組 AP 不管排列怎麼變,輸出都一樣;而且只有真正掃到的 AP 會進去,徹底擺脫 -100 填充。中位數一口氣降到 1.09,第一次跟 KNN 拉開明顯距離。提醒一句,1.09 是單模型,後面的里程碑才開始用集成。換對資料的型態,比換更大的模型更有用,這是核心訊息。</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這是整份報告單一影響力最大的一招,請特別注意。回到最開頭那張覆蓋圖的痛點:房間上半部幾乎沒走到,模型在那塊沒見過資料只能亂猜。解法不是再換模型,而是補資料,但補得有道理。每個 BSSID 各自擬合一個高斯過程,等於學出一張從位置到 RSSI 的平滑場;因為高斯過程是平滑內插,生出來的訊號才合理、不是亂數。接著從可行空間特別是那塊空白上半部抽樣生成五千筆合成掃描塞回訓練集。看左邊 CDF,整條往左移,中位數從 1.12 掉到 0.91,進步約兩成,比任何一次換架構都大。這裡有個最容易被誤讀的口徑問題我留在嘴上講清楚:這個 -19% 的基準是純真實的 1.12,不是上一張那個 1.09 的集成,口徑不同不要混。右邊長條,A 大進步但 C 早訓晚測反而微升約 5%——這在前面 splits 結果那張已經攤開過,跨時段是另一個獨立的軸,最後再回來。一句話:資料量只有一千多筆時,正確補上覆蓋勝過任何模型花招。</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回到 plain-nets 埋的第二個地雷:回歸取平均。想像一筆掃描其實對應房間裡兩個長得很像的位置,直接回歸座標的模型會老實輸出兩點平均,落在中間空地,兩邊都不對,這正是當初在向量上用 MDN 想解卻解不乾淨的多峰問題。合成資料已經把覆蓋補起來了,現在專心解平均。做法很直接:不要回歸座標,改成在地圖上分類。把整層切成 40 乘 33 的網格,約 0.4 公尺一格,模型對每格輸出機率,等於畫一張機率熱圖;再乘上 free-cell 遮罩把牆裡、家具裡那些物理上不可能的格子歸零,最後取機率加權的中心讀出座標。中位數立刻從 1.09 壓到 0.88,一樣是五個種子的集成。畫面這張是 heatmap 頭的結構。重點:分類天生能表達多個峰,回歸不行。但它還沒解決一件事——當兩個峰勢均力敵,期望位置還是會被拉到中間,這個破口交給下一張的 cascade。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這是整份報告的冠軍架構,粗到細的串接。一個共用的 Set Transformer 編碼器,後面接兩個頭:粗網格 10 乘 9,細網格 40 乘 33。直覺是分工:粗頭先決定大概在哪個區域,細頭負責那區域裡的精確位置。關鍵那一步在 gating——算座標之前,把細網格每格的機率乘上它所屬粗格的機率,粗頭當守門員,它不相信的區域就算細頭冒出一個峰也會被乘小、被否決。中位數從 0.88 再降到 0.79,五個種子集成。這不是隨手試出來的,是把更大更複雜的架構全比過一輪後留下來的,後面爬坡圖跟箱型圖會證明。最後一條很重要:把 mse 權重調到 0.55 之後,再降到 0.752,這就是我整場用的標題數字。我先在這裡把 0.79 到 0.75 的橋接講清楚,免得下一張爬坡圖最後那一格讓人意外。下一張用一個真實案例把 gate 為什麼有效拆給你看。</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用一個真實案例證明 gate 不是玄學。左邊是細網格單獨的輸出,你會看到它是雙峰的:正確位置附近有一個峰,但地圖另一處也冒出第二個幾乎一樣高的峰——這就是 WiFi 對稱混淆,兩個地方的 RSSI 指紋長得太像。因為我們取的是機率加權的期望位置,兩個峰一拉扯,預測點被拖到兩者中間的空地,整個偏掉。中間是粗網格的輸出,它很篤定地只點亮正確那一個區域,沒被假峰騙到,因為在粗尺度上那個錯誤區域的證據其實不夠。右邊是兩者相乘後的結果:落在錯誤區域的假峰被粗頭的低機率乘成幾乎為零,只剩正確位置一個乾淨的峰,預測點立刻彈回。這就是粗網格當守門員的全部價值,一次乘法解掉了回歸跟單層分類都解不掉的對稱混淆。我會邊講邊指三個面板。看完原理,下一段我們進實驗結果,上完整爬坡圖正式宣布 cascade 勝出。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進入第四個規定段落:實驗結果。這一段我會先給完整爬坡,再給這份工作最驕傲的誠實審計,接著誠實攤開所有失敗的實驗,然後拆解剩餘誤差,最後是現場 demo。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這張是整份報告的主結果,一條完整爬坡。同一個 Split A 測試集、363 筆,每條 bar 是一次實驗的中位數。我把那一長串箭頭從投影片上拿掉了,因為那條線圖本身就畫得很清楚,文字再抄一遍只會看不清。歷程是:KNN 1.57,改成集合表示掉到 1.09,加 GP 合成資料補覆蓋 0.91,改成網格分類 0.88,粗到細串接 0.79,最後 aggressive 版來到 0.75。整段最大兩個跳躍,一個是把掃描當集合而不是向量,一個是合成資料補覆蓋,各砍快兩成。我要強調:每一步贏的不是把模型做大,而是換對的歸納偏置。綠色是留下的,紅色是放棄的。誠實提醒,從 set-transformer 之後是五種子集成,前三個是單模型,所以這是歷程不是嚴格同口徑,這句我放成小字 caption,不佔主要 bullet。最乾淨的誠實標題就是 0.75 公尺。</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看誤差的累積分布,這張是要回答一個很常見的質疑:你是不是只挑了中位數好看?不是。Cascade 的曲線在每一個百分位都壓在其他模型左邊,代表整條分布都比較好。中位數 0.79,平均 1.12,p90 是 2.56。圖上那條 0.3 公尺的參考線很關鍵,有 27% 的預測落在裡面,也就是已經貼到 AMCL 標籤本身的精度。右邊那條超過兩公尺的尾巴,我的判斷來自對稱位置混淆跟稀疏區域,下一張可靠度圖佐證稀疏這一點,再下一張的最差十個案例佐證對稱混淆。</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這張正式為前面那個主軸蓋上句點:準度的天花板到底是什麼。左邊是每一格的平均誤差,右邊是樣本密度,兩張幾乎是鏡像。走得多、資料密的區域,誤差遠低於 0.5 公尺;上半部稀疏的地方,誤差爬到兩公尺以上。答案很清楚:限制準度的是覆蓋,不是噪音,也不是網路大小。這驗證了當初加合成資料的判斷,也預告了結論的未來方向——要再進步該去補資料,而不是再換更深的模型。這也是為什麼下一張誠實審計裡,加大模型反而沒用。</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這張是我最想讓大家看的一張,也是這份作業真正的價值,我用一張圖把三個數字的關係講死,免得被當成挑好看的講。我們曾經跑出 0.650,一個非常漂亮的數字,來自在 33 個候選裡用貪婪搜尋拼出來的集成。但我們自己抓到:那個集成是直接在測試集上挑出來的,等於偷看了答案。我們拉一個從沒碰過的驗證集去驗,馬上現形變成 0.710,中間約 0.07 的差距就是選擇偏差,所以我們拒絕把 0.650 當成績,誠實的標題是 0.752,這是標準的 full-train 到 test 一次。再往最嚴格走,做了完全無洩漏的巢狀五折交叉驗證,每折重訓、每折只用五分之四資料,得到約 0.95,正式數字是 0.942 加減 0.043。最後 SWA 這個我們從十一個 agent 文獻研究裡評分最高的額外方法,實測只動了 0.025,比 bootstrap 的標準誤 0.037 還小,等於沒有統計意義,我們就不採用——這句我簡短帶過,重點是它展示我們的紀律。重點不是哪個數字最低,而是我們會抓出自己的過擬合,這才是好科學。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這張誠實攤開所有沒成功的實驗,因為失敗常常比成功更值錢。箱型圖看的是誤差分布跟尾巴,結論一句:在這個資料量,模型做大做花都沒用。提醒一個對照細節,箱型圖上是絕對公尺,我口頭講的百分比是相對於 cascade 的退步,別把兩個單位搞混。最慘是擴散頭,把一個本質確定性的回歸硬套生成式,引入採樣噪音,直接惡化約 130%,在圖上它的中位數衝到約 1.8 公尺,是最顯眼的輸家。用樓層平面圖做交叉注意力的 CNN 變差約 8.5%,C-Mixup 這種插值增強變差約 6%。最直接的反例是 cascade-big,把參數衝到 170 萬,結果徹底過擬合;三層 cascade 多一層 gating 也幾乎沒動。一句話:我們只有約 1449 筆單次掃描,在這個規模,正確的歸納偏置遠勝容量,這也呼應整條爬坡贏的都是換表示、換輸出形式,不是堆參數。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把剩下的誤差拆開,它分成很乾淨的兩塊。第一塊是好消息:27% 的預測已經貼在 0.3 公尺的地面真值底線上。這個 0.3 是 AMCL 本身的定位噪音,意思是這些點已經準到跟標籤一樣準,受限於標籤、沒有再進步空間,所以我說的是受標籤限制,不是宣稱完美。第二塊是壞消息也是真正難點:約 16% 是超過兩公尺的離群,來自 WiFi 對稱混淆,地圖上兩個不同地方的訊號指紋幾乎一模一樣,就像前面 gating 那張看到的雙峰,模型沒辦法分辨。這張畫的就是最差的十個預測,它們集中在稀疏的上半部跟那些鏡像對稱的位置,正好呼應前一張可靠度圖。重點:這不是換更厲害的模型能解的,輸入訊號本身就不可區分,唯一出路是加入新的訊號源,這也帶到最後結論。</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這張是現場示範,我會直接播錄好的影片,投影片中央這塊就是預留給影片的位置,demo_snapshot 只是萬一影片沒出來的備援靜態圖。影片裡是真的 ESP32 在實驗室即時串流掃描進到模型推論。我要強調幾個數字:第一,整個推論純 CPU 跑,每筆約 9 毫秒,不需要 GPU,代表這系統真的能部署在便宜的邊緣裝置上,這也是我最愛引用的一句。第二,輸出是即時的位置點加機率熱圖,直接畫在樓層平面圖上,熱區跟著人走。再來兩個其實是把離線數字搬到真實環境的跨域驗證:即時掃到的 AP 有八到九成五還在訓練過的詞彙表裡,代表沒有漂掉;站著不動時預測抖動小於 0.1 公尺,很穩。最後我會在影片上口頭補一句,現場點一個真實位置比對,單點誤差落在 0.4 到 0.8 公尺,跟離線的 0.75 中位數同一個量級,代表離線數字在真實環境站得住。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總結。我們把 KNN 的誤差砍了一半,得到一個誠實的 0.752 公尺中位數,標準協定;最嚴格的巢狀交叉驗證是 0.95,這兩個口徑我從頭到尾用同一套,沒有內部矛盾。整段贏的關鍵是歸納偏置:把掃描當集合、把回歸改成網格分類、再加一個粗網格守門員,而不是把模型加深加大,而且這結果在真實硬體上即時驗證過。我特別想把誠實本身當成這份作業的成果:我們抓出了自己 0.650 的海市蜃樓,也誠實報出約 0.95 的巢狀交叉驗證。最後未來方向要講得實在:真正的 0.6 出頭從目前這 1449 筆單次掃描裡是拿不到的,那不是模型問題,是資料問題。要突破得去補上半部稀疏區的覆蓋、加入 IMU 或方向資訊、做時序融合把連續幾筆掃描一起用。一句話收尾——下一步的增益在新的訊號,不在更深的網路。謝謝大家。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60152" cy="1463040"/>
          </a:xfrm>
          <a:prstGeom prst="rect">
            <a:avLst/>
          </a:prstGeom>
          <a:noFill/>
        </p:spPr>
        <p:txBody>
          <a:bodyPr wrap="square">
            <a:spAutoFit/>
          </a:bodyPr>
          <a:lstStyle/>
          <a:p>
            <a:pPr algn="ctr"/>
            <a:r>
              <a:rPr sz="4000" b="1">
                <a:solidFill>
                  <a:srgbClr val="1F2D3D"/>
                </a:solidFill>
              </a:rPr>
              <a:t>From a 1.57 m KNN baseline to a 0.75 m honest cascade</a:t>
            </a:r>
          </a:p>
        </p:txBody>
      </p:sp>
      <p:sp>
        <p:nvSpPr>
          <p:cNvPr id="3" name="TextBox 2"/>
          <p:cNvSpPr txBox="1"/>
          <p:nvPr/>
        </p:nvSpPr>
        <p:spPr>
          <a:xfrm>
            <a:off x="914400" y="3931920"/>
            <a:ext cx="10360152" cy="914400"/>
          </a:xfrm>
          <a:prstGeom prst="rect">
            <a:avLst/>
          </a:prstGeom>
          <a:noFill/>
        </p:spPr>
        <p:txBody>
          <a:bodyPr wrap="square">
            <a:spAutoFit/>
          </a:bodyPr>
          <a:lstStyle/>
          <a:p>
            <a:pPr algn="ctr"/>
            <a:r>
              <a:rPr sz="2000">
                <a:solidFill>
                  <a:srgbClr val="555555"/>
                </a:solidFill>
              </a:rPr>
              <a:t>Standard protocol 0.75 m, strict nested-CV 0.95 m — and we caught our own overfitting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required sections, told as one honest engineering story</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題目定義 / Problem: one variable-length scan to (x, y) in metres, no GPS</a:t>
            </a:r>
          </a:p>
          <a:p>
            <a:pPr>
              <a:spcAft>
                <a:spcPts val="1000"/>
              </a:spcAft>
            </a:pPr>
            <a:r>
              <a:rPr sz="1600" b="1">
                <a:solidFill>
                  <a:srgbClr val="1B6EC2"/>
                </a:solidFill>
              </a:rPr>
              <a:t>•  </a:t>
            </a:r>
            <a:r>
              <a:rPr sz="1600">
                <a:solidFill>
                  <a:srgbClr val="1F2D3D"/>
                </a:solidFill>
              </a:rPr>
              <a:t>做法 / Method: Set Transformer to grid classification to coarse-gated cascade</a:t>
            </a:r>
          </a:p>
          <a:p>
            <a:pPr>
              <a:spcAft>
                <a:spcPts val="1000"/>
              </a:spcAft>
            </a:pPr>
            <a:r>
              <a:rPr sz="1600" b="1">
                <a:solidFill>
                  <a:srgbClr val="1B6EC2"/>
                </a:solidFill>
              </a:rPr>
              <a:t>•  </a:t>
            </a:r>
            <a:r>
              <a:rPr sz="1600">
                <a:solidFill>
                  <a:srgbClr val="1F2D3D"/>
                </a:solidFill>
              </a:rPr>
              <a:t>資料集切分 / Dataset: 1,812 scans, 4 splits (A main, C cross-time hardest)</a:t>
            </a:r>
          </a:p>
          <a:p>
            <a:pPr>
              <a:spcAft>
                <a:spcPts val="1000"/>
              </a:spcAft>
            </a:pPr>
            <a:r>
              <a:rPr sz="1600" b="1">
                <a:solidFill>
                  <a:srgbClr val="1B6EC2"/>
                </a:solidFill>
              </a:rPr>
              <a:t>•  </a:t>
            </a:r>
            <a:r>
              <a:rPr sz="1600">
                <a:solidFill>
                  <a:srgbClr val="1F2D3D"/>
                </a:solidFill>
              </a:rPr>
              <a:t>實驗結果 / Results: 1.57 to honest 0.75 m, with a self-caught 0.65 m mirage</a:t>
            </a:r>
          </a:p>
        </p:txBody>
      </p:sp>
      <p:pic>
        <p:nvPicPr>
          <p:cNvPr id="4" name="Picture 3" descr="honest_validation.png"/>
          <p:cNvPicPr>
            <a:picLocks noChangeAspect="1"/>
          </p:cNvPicPr>
          <p:nvPr/>
        </p:nvPicPr>
        <p:blipFill>
          <a:blip r:embed="rId2"/>
          <a:stretch>
            <a:fillRect/>
          </a:stretch>
        </p:blipFill>
        <p:spPr>
          <a:xfrm>
            <a:off x="1454543" y="2697480"/>
            <a:ext cx="9279865" cy="393192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題目定義 / Problem Definition</a:t>
            </a:r>
          </a:p>
        </p:txBody>
      </p:sp>
      <p:sp>
        <p:nvSpPr>
          <p:cNvPr id="3" name="TextBox 2"/>
          <p:cNvSpPr txBox="1"/>
          <p:nvPr/>
        </p:nvSpPr>
        <p:spPr>
          <a:xfrm>
            <a:off x="1371600" y="1463040"/>
            <a:ext cx="9418320" cy="4937760"/>
          </a:xfrm>
          <a:prstGeom prst="rect">
            <a:avLst/>
          </a:prstGeom>
          <a:noFill/>
        </p:spPr>
        <p:txBody>
          <a:bodyPr wrap="square" anchor="ctr">
            <a:spAutoFit/>
          </a:bodyP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task: turn one variable-length WiFi scan into a point on the map</a:t>
            </a:r>
          </a:p>
        </p:txBody>
      </p:sp>
      <p:sp>
        <p:nvSpPr>
          <p:cNvPr id="3" name="TextBox 2"/>
          <p:cNvSpPr txBox="1"/>
          <p:nvPr/>
        </p:nvSpPr>
        <p:spPr>
          <a:xfrm>
            <a:off x="1371600" y="1463040"/>
            <a:ext cx="9418320" cy="4937760"/>
          </a:xfrm>
          <a:prstGeom prst="rect">
            <a:avLst/>
          </a:prstGeom>
          <a:noFill/>
        </p:spPr>
        <p:txBody>
          <a:bodyPr wrap="square" anchor="ctr">
            <a:spAutoFit/>
          </a:bodyPr>
          <a:lstStyle/>
          <a:p>
            <a:pPr>
              <a:spcAft>
                <a:spcPts val="1000"/>
              </a:spcAft>
            </a:pPr>
            <a:r>
              <a:rPr sz="2200" b="1">
                <a:solidFill>
                  <a:srgbClr val="1B6EC2"/>
                </a:solidFill>
              </a:rPr>
              <a:t>•  </a:t>
            </a:r>
            <a:r>
              <a:rPr sz="2200">
                <a:solidFill>
                  <a:srgbClr val="1F2D3D"/>
                </a:solidFill>
              </a:rPr>
              <a:t>Input: one scan = a variable-length set of (BSSID, RSSI) pairs</a:t>
            </a:r>
          </a:p>
          <a:p>
            <a:pPr>
              <a:spcAft>
                <a:spcPts val="1000"/>
              </a:spcAft>
            </a:pPr>
            <a:r>
              <a:rPr sz="2200" b="1">
                <a:solidFill>
                  <a:srgbClr val="1B6EC2"/>
                </a:solidFill>
              </a:rPr>
              <a:t>•  </a:t>
            </a:r>
            <a:r>
              <a:rPr sz="2200">
                <a:solidFill>
                  <a:srgbClr val="1F2D3D"/>
                </a:solidFill>
              </a:rPr>
              <a:t>Output: robot position (x, y) on the 189.5 m² floor plan</a:t>
            </a:r>
          </a:p>
          <a:p>
            <a:pPr>
              <a:spcAft>
                <a:spcPts val="1000"/>
              </a:spcAft>
            </a:pPr>
            <a:r>
              <a:rPr sz="2200" b="1">
                <a:solidFill>
                  <a:srgbClr val="1B6EC2"/>
                </a:solidFill>
              </a:rPr>
              <a:t>•  </a:t>
            </a:r>
            <a:r>
              <a:rPr sz="2200">
                <a:solidFill>
                  <a:srgbClr val="1F2D3D"/>
                </a:solidFill>
              </a:rPr>
              <a:t>No GPS indoors — WiFi fingerprinting is the classic fallback</a:t>
            </a:r>
          </a:p>
          <a:p>
            <a:pPr>
              <a:spcAft>
                <a:spcPts val="1000"/>
              </a:spcAft>
            </a:pPr>
            <a:r>
              <a:rPr sz="2200" b="1">
                <a:solidFill>
                  <a:srgbClr val="1B6EC2"/>
                </a:solidFill>
              </a:rPr>
              <a:t>•  </a:t>
            </a:r>
            <a:r>
              <a:rPr sz="2200">
                <a:solidFill>
                  <a:srgbClr val="1F2D3D"/>
                </a:solidFill>
              </a:rPr>
              <a:t>Four compounding difficulties: variable set, ambiguous RSSI, sparse coverage, 0.3 m label floor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資料集切分 / Dataset &amp; Splits</a:t>
            </a:r>
          </a:p>
        </p:txBody>
      </p:sp>
      <p:sp>
        <p:nvSpPr>
          <p:cNvPr id="3" name="TextBox 2"/>
          <p:cNvSpPr txBox="1"/>
          <p:nvPr/>
        </p:nvSpPr>
        <p:spPr>
          <a:xfrm>
            <a:off x="1371600" y="1463040"/>
            <a:ext cx="9418320" cy="4937760"/>
          </a:xfrm>
          <a:prstGeom prst="rect">
            <a:avLst/>
          </a:prstGeom>
          <a:noFill/>
        </p:spPr>
        <p:txBody>
          <a:bodyPr wrap="square" anchor="ctr">
            <a:spAutoFit/>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1,812 fingerprints in a 189.5 m² lab — but the upper region is a coverage hole</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1,812 scans = morning 912 + evening 900; train/test split 1449/363</a:t>
            </a:r>
          </a:p>
          <a:p>
            <a:pPr>
              <a:spcAft>
                <a:spcPts val="1000"/>
              </a:spcAft>
            </a:pPr>
            <a:r>
              <a:rPr sz="1800" b="1">
                <a:solidFill>
                  <a:srgbClr val="1B6EC2"/>
                </a:solidFill>
              </a:rPr>
              <a:t>•  </a:t>
            </a:r>
            <a:r>
              <a:rPr sz="1800">
                <a:solidFill>
                  <a:srgbClr val="1F2D3D"/>
                </a:solidFill>
              </a:rPr>
              <a:t>115 BSSIDs seen, 80 kept (&gt;=10 hits); the rest are transient noise</a:t>
            </a:r>
          </a:p>
          <a:p>
            <a:pPr>
              <a:spcAft>
                <a:spcPts val="1000"/>
              </a:spcAft>
            </a:pPr>
            <a:r>
              <a:rPr sz="1800" b="1">
                <a:solidFill>
                  <a:srgbClr val="1B6EC2"/>
                </a:solidFill>
              </a:rPr>
              <a:t>•  </a:t>
            </a:r>
            <a:r>
              <a:rPr sz="1800">
                <a:solidFill>
                  <a:srgbClr val="1F2D3D"/>
                </a:solidFill>
              </a:rPr>
              <a:t>Ground truth from ROS AMCL, ~0.3 m noise — our hard error floor</a:t>
            </a:r>
          </a:p>
          <a:p>
            <a:pPr>
              <a:spcAft>
                <a:spcPts val="1000"/>
              </a:spcAft>
            </a:pPr>
            <a:r>
              <a:rPr sz="1800" b="1">
                <a:solidFill>
                  <a:srgbClr val="1B6EC2"/>
                </a:solidFill>
              </a:rPr>
              <a:t>•  </a:t>
            </a:r>
            <a:r>
              <a:rPr sz="1800">
                <a:solidFill>
                  <a:srgbClr val="1F2D3D"/>
                </a:solidFill>
              </a:rPr>
              <a:t>Coverage follows the driven path; the upper region is barely visited</a:t>
            </a:r>
          </a:p>
        </p:txBody>
      </p:sp>
      <p:pic>
        <p:nvPicPr>
          <p:cNvPr id="4" name="Picture 3" descr="data_coverage.png"/>
          <p:cNvPicPr>
            <a:picLocks noChangeAspect="1"/>
          </p:cNvPicPr>
          <p:nvPr/>
        </p:nvPicPr>
        <p:blipFill>
          <a:blip r:embed="rId2"/>
          <a:stretch>
            <a:fillRect/>
          </a:stretch>
        </p:blipFill>
        <p:spPr>
          <a:xfrm>
            <a:off x="5024120" y="1188720"/>
            <a:ext cx="6593840" cy="53949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splits, each stress-testing a different generalisation axis</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A_random (MAIN): 80/20 over all data, test=363 — accuracy ceiling</a:t>
            </a:r>
          </a:p>
          <a:p>
            <a:pPr>
              <a:spcAft>
                <a:spcPts val="1000"/>
              </a:spcAft>
            </a:pPr>
            <a:r>
              <a:rPr sz="1600" b="1">
                <a:solidFill>
                  <a:srgbClr val="1B6EC2"/>
                </a:solidFill>
              </a:rPr>
              <a:t>•  </a:t>
            </a:r>
            <a:r>
              <a:rPr sz="1600">
                <a:solidFill>
                  <a:srgbClr val="1F2D3D"/>
                </a:solidFill>
              </a:rPr>
              <a:t>B_morning: same-session — isolates model quality from time drift</a:t>
            </a:r>
          </a:p>
          <a:p>
            <a:pPr>
              <a:spcAft>
                <a:spcPts val="1000"/>
              </a:spcAft>
            </a:pPr>
            <a:r>
              <a:rPr sz="1600" b="1">
                <a:solidFill>
                  <a:srgbClr val="1B6EC2"/>
                </a:solidFill>
              </a:rPr>
              <a:t>•  </a:t>
            </a:r>
            <a:r>
              <a:rPr sz="1600">
                <a:solidFill>
                  <a:srgbClr val="1F2D3D"/>
                </a:solidFill>
              </a:rPr>
              <a:t>C_morning to evening: train AM, test PM — the hardest, cross-time test</a:t>
            </a:r>
          </a:p>
          <a:p>
            <a:pPr>
              <a:spcAft>
                <a:spcPts val="1000"/>
              </a:spcAft>
            </a:pPr>
            <a:r>
              <a:rPr sz="1600" b="1">
                <a:solidFill>
                  <a:srgbClr val="1B6EC2"/>
                </a:solidFill>
              </a:rPr>
              <a:t>•  </a:t>
            </a:r>
            <a:r>
              <a:rPr sz="1600">
                <a:solidFill>
                  <a:srgbClr val="1F2D3D"/>
                </a:solidFill>
              </a:rPr>
              <a:t>D_stratified: early/late mix — guards against trajectory-order leakage</a:t>
            </a:r>
          </a:p>
        </p:txBody>
      </p:sp>
      <p:pic>
        <p:nvPicPr>
          <p:cNvPr id="4" name="Picture 3" descr="cascade_scatter.png"/>
          <p:cNvPicPr>
            <a:picLocks noChangeAspect="1"/>
          </p:cNvPicPr>
          <p:nvPr/>
        </p:nvPicPr>
        <p:blipFill>
          <a:blip r:embed="rId2"/>
          <a:stretch>
            <a:fillRect/>
          </a:stretch>
        </p:blipFill>
        <p:spPr>
          <a:xfrm>
            <a:off x="2536646" y="2697480"/>
            <a:ext cx="7115660" cy="3931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Across all four splits: in-session is strong, cross-time is the honest weak spot</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A_random: 0.75 m (measured, main headline)</a:t>
            </a:r>
          </a:p>
          <a:p>
            <a:pPr>
              <a:spcAft>
                <a:spcPts val="1000"/>
              </a:spcAft>
            </a:pPr>
            <a:r>
              <a:rPr sz="1600" b="1">
                <a:solidFill>
                  <a:srgbClr val="1B6EC2"/>
                </a:solidFill>
              </a:rPr>
              <a:t>•  </a:t>
            </a:r>
            <a:r>
              <a:rPr sz="1600">
                <a:solidFill>
                  <a:srgbClr val="1F2D3D"/>
                </a:solidFill>
              </a:rPr>
              <a:t>B_morning: ~0.85 m (same-session, estimate)</a:t>
            </a:r>
          </a:p>
          <a:p>
            <a:pPr>
              <a:spcAft>
                <a:spcPts val="1000"/>
              </a:spcAft>
            </a:pPr>
            <a:r>
              <a:rPr sz="1600" b="1">
                <a:solidFill>
                  <a:srgbClr val="1B6EC2"/>
                </a:solidFill>
              </a:rPr>
              <a:t>•  </a:t>
            </a:r>
            <a:r>
              <a:rPr sz="1600">
                <a:solidFill>
                  <a:srgbClr val="1F2D3D"/>
                </a:solidFill>
              </a:rPr>
              <a:t>D_stratified: ~0.90 m (all-session deployment, estimate)</a:t>
            </a:r>
          </a:p>
          <a:p>
            <a:pPr>
              <a:spcAft>
                <a:spcPts val="1000"/>
              </a:spcAft>
            </a:pPr>
            <a:r>
              <a:rPr sz="1600" b="1">
                <a:solidFill>
                  <a:srgbClr val="1B6EC2"/>
                </a:solidFill>
              </a:rPr>
              <a:t>•  </a:t>
            </a:r>
            <a:r>
              <a:rPr sz="1600">
                <a:solidFill>
                  <a:srgbClr val="1F2D3D"/>
                </a:solidFill>
              </a:rPr>
              <a:t>C_morning to evening: ~2.3 m (cross-time, estimate) — the open problem</a:t>
            </a:r>
          </a:p>
        </p:txBody>
      </p:sp>
      <p:pic>
        <p:nvPicPr>
          <p:cNvPr id="4" name="Picture 3" descr="synth_ablation.png"/>
          <p:cNvPicPr>
            <a:picLocks noChangeAspect="1"/>
          </p:cNvPicPr>
          <p:nvPr/>
        </p:nvPicPr>
        <p:blipFill>
          <a:blip r:embed="rId2"/>
          <a:stretch>
            <a:fillRect/>
          </a:stretch>
        </p:blipFill>
        <p:spPr>
          <a:xfrm>
            <a:off x="1145222" y="2697480"/>
            <a:ext cx="9898508" cy="393191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Coverage, not noise, is the real bottleneck</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Coverage, not noise, is the bottleneck — the thesis of this whole deck</a:t>
            </a:r>
          </a:p>
          <a:p>
            <a:pPr>
              <a:spcAft>
                <a:spcPts val="1000"/>
              </a:spcAft>
            </a:pPr>
            <a:r>
              <a:rPr sz="1600" b="1">
                <a:solidFill>
                  <a:srgbClr val="1B6EC2"/>
                </a:solidFill>
              </a:rPr>
              <a:t>•  </a:t>
            </a:r>
            <a:r>
              <a:rPr sz="1600">
                <a:solidFill>
                  <a:srgbClr val="1F2D3D"/>
                </a:solidFill>
              </a:rPr>
              <a:t>Within-cell RSSI std ~3.5 dBm; morning-to-evening drift only ~0.8 dBm</a:t>
            </a:r>
          </a:p>
          <a:p>
            <a:pPr>
              <a:spcAft>
                <a:spcPts val="1000"/>
              </a:spcAft>
            </a:pPr>
            <a:r>
              <a:rPr sz="1600" b="1">
                <a:solidFill>
                  <a:srgbClr val="1B6EC2"/>
                </a:solidFill>
              </a:rPr>
              <a:t>•  </a:t>
            </a:r>
            <a:r>
              <a:rPr sz="1600">
                <a:solidFill>
                  <a:srgbClr val="1F2D3D"/>
                </a:solidFill>
              </a:rPr>
              <a:t>Error spikes when few known APs match, then flattens</a:t>
            </a:r>
          </a:p>
          <a:p>
            <a:pPr>
              <a:spcAft>
                <a:spcPts val="1000"/>
              </a:spcAft>
            </a:pPr>
            <a:r>
              <a:rPr sz="1600" b="1">
                <a:solidFill>
                  <a:srgbClr val="1B6EC2"/>
                </a:solidFill>
              </a:rPr>
              <a:t>•  </a:t>
            </a:r>
            <a:r>
              <a:rPr sz="1600">
                <a:solidFill>
                  <a:srgbClr val="1F2D3D"/>
                </a:solidFill>
              </a:rPr>
              <a:t>Diagnosis: fix coverage, not the network — motivates GP-synth later</a:t>
            </a:r>
          </a:p>
        </p:txBody>
      </p:sp>
      <p:pic>
        <p:nvPicPr>
          <p:cNvPr id="4" name="Picture 3" descr="error_vs_aps_drift.png"/>
          <p:cNvPicPr>
            <a:picLocks noChangeAspect="1"/>
          </p:cNvPicPr>
          <p:nvPr/>
        </p:nvPicPr>
        <p:blipFill>
          <a:blip r:embed="rId2"/>
          <a:stretch>
            <a:fillRect/>
          </a:stretch>
        </p:blipFill>
        <p:spPr>
          <a:xfrm>
            <a:off x="1365933" y="2697480"/>
            <a:ext cx="9457086" cy="39319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做法 / Method</a:t>
            </a:r>
          </a:p>
        </p:txBody>
      </p:sp>
      <p:sp>
        <p:nvSpPr>
          <p:cNvPr id="3" name="TextBox 2"/>
          <p:cNvSpPr txBox="1"/>
          <p:nvPr/>
        </p:nvSpPr>
        <p:spPr>
          <a:xfrm>
            <a:off x="1371600" y="1463040"/>
            <a:ext cx="9418320" cy="4937760"/>
          </a:xfrm>
          <a:prstGeom prst="rect">
            <a:avLst/>
          </a:prstGeom>
          <a:noFill/>
        </p:spPr>
        <p:txBody>
          <a:bodyPr wrap="square" anchor="ctr">
            <a:spAutoFit/>
          </a:bodyPr>
          <a:lstStyle/>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Classic KNN fingerprinting sets the bar to beat at 1.57 m</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Scan to 80-D RSSI vector; unheard AP padded to -100 dBm (not heard)</a:t>
            </a:r>
          </a:p>
          <a:p>
            <a:pPr>
              <a:spcAft>
                <a:spcPts val="1000"/>
              </a:spcAft>
            </a:pPr>
            <a:r>
              <a:rPr sz="1800" b="1">
                <a:solidFill>
                  <a:srgbClr val="1B6EC2"/>
                </a:solidFill>
              </a:rPr>
              <a:t>•  </a:t>
            </a:r>
            <a:r>
              <a:rPr sz="1800">
                <a:solidFill>
                  <a:srgbClr val="1F2D3D"/>
                </a:solidFill>
              </a:rPr>
              <a:t>k=5 (a-priori, not tuned on test) nearest neighbours, distance-weighted pose</a:t>
            </a:r>
          </a:p>
          <a:p>
            <a:pPr>
              <a:spcAft>
                <a:spcPts val="1000"/>
              </a:spcAft>
            </a:pPr>
            <a:r>
              <a:rPr sz="1800" b="1">
                <a:solidFill>
                  <a:srgbClr val="1B6EC2"/>
                </a:solidFill>
              </a:rPr>
              <a:t>•  </a:t>
            </a:r>
            <a:r>
              <a:rPr sz="1800">
                <a:solidFill>
                  <a:srgbClr val="1F2D3D"/>
                </a:solidFill>
              </a:rPr>
              <a:t>Zero training, pure lookup: the honest reference point</a:t>
            </a:r>
          </a:p>
          <a:p>
            <a:pPr>
              <a:spcAft>
                <a:spcPts val="1000"/>
              </a:spcAft>
            </a:pPr>
            <a:r>
              <a:rPr sz="1800" b="1">
                <a:solidFill>
                  <a:srgbClr val="1B6EC2"/>
                </a:solidFill>
              </a:rPr>
              <a:t>•  </a:t>
            </a:r>
            <a:r>
              <a:rPr sz="1800">
                <a:solidFill>
                  <a:srgbClr val="1F2D3D"/>
                </a:solidFill>
              </a:rPr>
              <a:t>Median error 1.57 m on Split A test</a:t>
            </a:r>
          </a:p>
        </p:txBody>
      </p:sp>
      <p:pic>
        <p:nvPicPr>
          <p:cNvPr id="4" name="Picture 3" descr="arch_knn.png"/>
          <p:cNvPicPr>
            <a:picLocks noChangeAspect="1"/>
          </p:cNvPicPr>
          <p:nvPr/>
        </p:nvPicPr>
        <p:blipFill>
          <a:blip r:embed="rId2"/>
          <a:stretch>
            <a:fillRect/>
          </a:stretch>
        </p:blipFill>
        <p:spPr>
          <a:xfrm>
            <a:off x="6729015" y="1188720"/>
            <a:ext cx="3184050" cy="53949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Plain neural nets barely beat KNN — and reveal two lessons</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Lesson 1: a dense -100-padded vector wastes half the capacity</a:t>
            </a:r>
          </a:p>
          <a:p>
            <a:pPr>
              <a:spcAft>
                <a:spcPts val="1000"/>
              </a:spcAft>
            </a:pPr>
            <a:r>
              <a:rPr sz="1800" b="1">
                <a:solidFill>
                  <a:srgbClr val="1B6EC2"/>
                </a:solidFill>
              </a:rPr>
              <a:t>•  </a:t>
            </a:r>
            <a:r>
              <a:rPr sz="1800">
                <a:solidFill>
                  <a:srgbClr val="1F2D3D"/>
                </a:solidFill>
              </a:rPr>
              <a:t>Lesson 2: regression averages multimodal answers into the void</a:t>
            </a:r>
          </a:p>
          <a:p>
            <a:pPr>
              <a:spcAft>
                <a:spcPts val="1000"/>
              </a:spcAft>
            </a:pPr>
            <a:r>
              <a:rPr sz="1800" b="1">
                <a:solidFill>
                  <a:srgbClr val="1B6EC2"/>
                </a:solidFill>
              </a:rPr>
              <a:t>•  </a:t>
            </a:r>
            <a:r>
              <a:rPr sz="1800">
                <a:solidFill>
                  <a:srgbClr val="1F2D3D"/>
                </a:solidFill>
              </a:rPr>
              <a:t>MLP regression: 1.30 m — only a sliver below KNN</a:t>
            </a:r>
          </a:p>
          <a:p>
            <a:pPr>
              <a:spcAft>
                <a:spcPts val="1000"/>
              </a:spcAft>
            </a:pPr>
            <a:r>
              <a:rPr sz="1800" b="1">
                <a:solidFill>
                  <a:srgbClr val="1B6EC2"/>
                </a:solidFill>
              </a:rPr>
              <a:t>•  </a:t>
            </a:r>
            <a:r>
              <a:rPr sz="1800">
                <a:solidFill>
                  <a:srgbClr val="1F2D3D"/>
                </a:solidFill>
              </a:rPr>
              <a:t>MaskedMDN: 1.37 m — a mixture head alone does not fix multimodality</a:t>
            </a:r>
          </a:p>
        </p:txBody>
      </p:sp>
      <p:pic>
        <p:nvPicPr>
          <p:cNvPr id="4" name="Picture 3" descr="arch_masked_mdn.png"/>
          <p:cNvPicPr>
            <a:picLocks noChangeAspect="1"/>
          </p:cNvPicPr>
          <p:nvPr/>
        </p:nvPicPr>
        <p:blipFill>
          <a:blip r:embed="rId2"/>
          <a:stretch>
            <a:fillRect/>
          </a:stretch>
        </p:blipFill>
        <p:spPr>
          <a:xfrm>
            <a:off x="6866219" y="1188720"/>
            <a:ext cx="2909641" cy="53949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Treating the scan as a SET, not a vector, unlocks 1.09 m</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AP = one token: BSSID embedding + scaled RSSI</a:t>
            </a:r>
          </a:p>
          <a:p>
            <a:pPr>
              <a:spcAft>
                <a:spcPts val="1000"/>
              </a:spcAft>
            </a:pPr>
            <a:r>
              <a:rPr sz="1800" b="1">
                <a:solidFill>
                  <a:srgbClr val="1B6EC2"/>
                </a:solidFill>
              </a:rPr>
              <a:t>•  </a:t>
            </a:r>
            <a:r>
              <a:rPr sz="1800">
                <a:solidFill>
                  <a:srgbClr val="1F2D3D"/>
                </a:solidFill>
              </a:rPr>
              <a:t>Set Transformer: 3 self-attention blocks, pooling-by-attention to 192-d</a:t>
            </a:r>
          </a:p>
          <a:p>
            <a:pPr>
              <a:spcAft>
                <a:spcPts val="1000"/>
              </a:spcAft>
            </a:pPr>
            <a:r>
              <a:rPr sz="1800" b="1">
                <a:solidFill>
                  <a:srgbClr val="1B6EC2"/>
                </a:solidFill>
              </a:rPr>
              <a:t>•  </a:t>
            </a:r>
            <a:r>
              <a:rPr sz="1800">
                <a:solidFill>
                  <a:srgbClr val="1F2D3D"/>
                </a:solidFill>
              </a:rPr>
              <a:t>Permutation-invariant (order doesn't matter); only real APs enter</a:t>
            </a:r>
          </a:p>
          <a:p>
            <a:pPr>
              <a:spcAft>
                <a:spcPts val="1000"/>
              </a:spcAft>
            </a:pPr>
            <a:r>
              <a:rPr sz="1800" b="1">
                <a:solidFill>
                  <a:srgbClr val="1B6EC2"/>
                </a:solidFill>
              </a:rPr>
              <a:t>•  </a:t>
            </a:r>
            <a:r>
              <a:rPr sz="1800">
                <a:solidFill>
                  <a:srgbClr val="1F2D3D"/>
                </a:solidFill>
              </a:rPr>
              <a:t>Median 1.09 m, -16% vs the MLP</a:t>
            </a:r>
          </a:p>
        </p:txBody>
      </p:sp>
      <p:pic>
        <p:nvPicPr>
          <p:cNvPr id="4" name="Picture 3" descr="arch_set_transformer_mdn.png"/>
          <p:cNvPicPr>
            <a:picLocks noChangeAspect="1"/>
          </p:cNvPicPr>
          <p:nvPr/>
        </p:nvPicPr>
        <p:blipFill>
          <a:blip r:embed="rId2"/>
          <a:stretch>
            <a:fillRect/>
          </a:stretch>
        </p:blipFill>
        <p:spPr>
          <a:xfrm>
            <a:off x="6766242" y="1188720"/>
            <a:ext cx="3109595" cy="53949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GP-kriging synthetic data: the single biggest jump, -19% to 0.91 m</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Per-BSSID Gaussian Process learns a smooth position-to-RSSI field</a:t>
            </a:r>
          </a:p>
          <a:p>
            <a:pPr>
              <a:spcAft>
                <a:spcPts val="1000"/>
              </a:spcAft>
            </a:pPr>
            <a:r>
              <a:rPr sz="1600" b="1">
                <a:solidFill>
                  <a:srgbClr val="1B6EC2"/>
                </a:solidFill>
              </a:rPr>
              <a:t>•  </a:t>
            </a:r>
            <a:r>
              <a:rPr sz="1600">
                <a:solidFill>
                  <a:srgbClr val="1F2D3D"/>
                </a:solidFill>
              </a:rPr>
              <a:t>Sample 5000 synthetic scans from the empty upper region</a:t>
            </a:r>
          </a:p>
          <a:p>
            <a:pPr>
              <a:spcAft>
                <a:spcPts val="1000"/>
              </a:spcAft>
            </a:pPr>
            <a:r>
              <a:rPr sz="1600" b="1">
                <a:solidFill>
                  <a:srgbClr val="1B6EC2"/>
                </a:solidFill>
              </a:rPr>
              <a:t>•  </a:t>
            </a:r>
            <a:r>
              <a:rPr sz="1600">
                <a:solidFill>
                  <a:srgbClr val="1F2D3D"/>
                </a:solidFill>
              </a:rPr>
              <a:t>Split A: 1.12 to 0.91 m (-19%) — the project's largest single gain</a:t>
            </a:r>
          </a:p>
          <a:p>
            <a:pPr>
              <a:spcAft>
                <a:spcPts val="1000"/>
              </a:spcAft>
            </a:pPr>
            <a:r>
              <a:rPr sz="1600" b="1">
                <a:solidFill>
                  <a:srgbClr val="1B6EC2"/>
                </a:solidFill>
              </a:rPr>
              <a:t>•  </a:t>
            </a:r>
            <a:r>
              <a:rPr sz="1600">
                <a:solidFill>
                  <a:srgbClr val="1F2D3D"/>
                </a:solidFill>
              </a:rPr>
              <a:t>In-session win; cross-time drift is revisited at the end</a:t>
            </a:r>
          </a:p>
        </p:txBody>
      </p:sp>
      <p:pic>
        <p:nvPicPr>
          <p:cNvPr id="4" name="Picture 3" descr="synth_ablation.png"/>
          <p:cNvPicPr>
            <a:picLocks noChangeAspect="1"/>
          </p:cNvPicPr>
          <p:nvPr/>
        </p:nvPicPr>
        <p:blipFill>
          <a:blip r:embed="rId2"/>
          <a:stretch>
            <a:fillRect/>
          </a:stretch>
        </p:blipFill>
        <p:spPr>
          <a:xfrm>
            <a:off x="1145222" y="2697480"/>
            <a:ext cx="9898508" cy="393191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Classifying on a masked grid beats regressing a coordinate: 0.88 m</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Predict P(cell) over a 40x33 grid (~0.4 m cells), not a coordinate</a:t>
            </a:r>
          </a:p>
          <a:p>
            <a:pPr>
              <a:spcAft>
                <a:spcPts val="1000"/>
              </a:spcAft>
            </a:pPr>
            <a:r>
              <a:rPr sz="1800" b="1">
                <a:solidFill>
                  <a:srgbClr val="1B6EC2"/>
                </a:solidFill>
              </a:rPr>
              <a:t>•  </a:t>
            </a:r>
            <a:r>
              <a:rPr sz="1800">
                <a:solidFill>
                  <a:srgbClr val="1F2D3D"/>
                </a:solidFill>
              </a:rPr>
              <a:t>Free-cell mask zeroes walls; centroid reads off the position</a:t>
            </a:r>
          </a:p>
          <a:p>
            <a:pPr>
              <a:spcAft>
                <a:spcPts val="1000"/>
              </a:spcAft>
            </a:pPr>
            <a:r>
              <a:rPr sz="1800" b="1">
                <a:solidFill>
                  <a:srgbClr val="1B6EC2"/>
                </a:solidFill>
              </a:rPr>
              <a:t>•  </a:t>
            </a:r>
            <a:r>
              <a:rPr sz="1800">
                <a:solidFill>
                  <a:srgbClr val="1F2D3D"/>
                </a:solidFill>
              </a:rPr>
              <a:t>Classification can express multiple peaks; regression cannot</a:t>
            </a:r>
          </a:p>
          <a:p>
            <a:pPr>
              <a:spcAft>
                <a:spcPts val="1000"/>
              </a:spcAft>
            </a:pPr>
            <a:r>
              <a:rPr sz="1800" b="1">
                <a:solidFill>
                  <a:srgbClr val="1B6EC2"/>
                </a:solidFill>
              </a:rPr>
              <a:t>•  </a:t>
            </a:r>
            <a:r>
              <a:rPr sz="1800">
                <a:solidFill>
                  <a:srgbClr val="1F2D3D"/>
                </a:solidFill>
              </a:rPr>
              <a:t>Median drops 1.09 to 0.88 m (5-seed ensemble)</a:t>
            </a:r>
          </a:p>
        </p:txBody>
      </p:sp>
      <p:pic>
        <p:nvPicPr>
          <p:cNvPr id="4" name="Picture 3" descr="arch_heatmap.png"/>
          <p:cNvPicPr>
            <a:picLocks noChangeAspect="1"/>
          </p:cNvPicPr>
          <p:nvPr/>
        </p:nvPicPr>
        <p:blipFill>
          <a:blip r:embed="rId2"/>
          <a:stretch>
            <a:fillRect/>
          </a:stretch>
        </p:blipFill>
        <p:spPr>
          <a:xfrm>
            <a:off x="6766242" y="1188720"/>
            <a:ext cx="3109595" cy="539496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Our champion: a coarse 10x9 gate over the fine 40x33 grid lands 0.79 m</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Shared encoder feeds a coarse 10x9 + a fine 40x33 head</a:t>
            </a:r>
          </a:p>
          <a:p>
            <a:pPr>
              <a:spcAft>
                <a:spcPts val="1000"/>
              </a:spcAft>
            </a:pPr>
            <a:r>
              <a:rPr sz="1800" b="1">
                <a:solidFill>
                  <a:srgbClr val="1B6EC2"/>
                </a:solidFill>
              </a:rPr>
              <a:t>•  </a:t>
            </a:r>
            <a:r>
              <a:rPr sz="1800">
                <a:solidFill>
                  <a:srgbClr val="1F2D3D"/>
                </a:solidFill>
              </a:rPr>
              <a:t>Gate: P_fine(cell) x P_coarse(parent region) before the centroid</a:t>
            </a:r>
          </a:p>
          <a:p>
            <a:pPr>
              <a:spcAft>
                <a:spcPts val="1000"/>
              </a:spcAft>
            </a:pPr>
            <a:r>
              <a:rPr sz="1800" b="1">
                <a:solidFill>
                  <a:srgbClr val="1B6EC2"/>
                </a:solidFill>
              </a:rPr>
              <a:t>•  </a:t>
            </a:r>
            <a:r>
              <a:rPr sz="1800">
                <a:solidFill>
                  <a:srgbClr val="1F2D3D"/>
                </a:solidFill>
              </a:rPr>
              <a:t>0.79 m median (5-seed) — best of every config we tried</a:t>
            </a:r>
          </a:p>
          <a:p>
            <a:pPr>
              <a:spcAft>
                <a:spcPts val="1000"/>
              </a:spcAft>
            </a:pPr>
            <a:r>
              <a:rPr sz="1800" b="1">
                <a:solidFill>
                  <a:srgbClr val="1B6EC2"/>
                </a:solidFill>
              </a:rPr>
              <a:t>•  </a:t>
            </a:r>
            <a:r>
              <a:rPr sz="1800">
                <a:solidFill>
                  <a:srgbClr val="1F2D3D"/>
                </a:solidFill>
              </a:rPr>
              <a:t>Loss-weight tuning (mse_w 0.55) to 0.752 m — the reported headline</a:t>
            </a:r>
          </a:p>
        </p:txBody>
      </p:sp>
      <p:pic>
        <p:nvPicPr>
          <p:cNvPr id="4" name="Picture 3" descr="arch_cascade.png"/>
          <p:cNvPicPr>
            <a:picLocks noChangeAspect="1"/>
          </p:cNvPicPr>
          <p:nvPr/>
        </p:nvPicPr>
        <p:blipFill>
          <a:blip r:embed="rId2"/>
          <a:stretch>
            <a:fillRect/>
          </a:stretch>
        </p:blipFill>
        <p:spPr>
          <a:xfrm>
            <a:off x="6124229" y="1188720"/>
            <a:ext cx="4393622" cy="53949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it works: the coarse gate kills the fine grid's false second peak</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Fine head alone is bimodal: correct peak + a plausible decoy</a:t>
            </a:r>
          </a:p>
          <a:p>
            <a:pPr>
              <a:spcAft>
                <a:spcPts val="1000"/>
              </a:spcAft>
            </a:pPr>
            <a:r>
              <a:rPr sz="1600" b="1">
                <a:solidFill>
                  <a:srgbClr val="1B6EC2"/>
                </a:solidFill>
              </a:rPr>
              <a:t>•  </a:t>
            </a:r>
            <a:r>
              <a:rPr sz="1600">
                <a:solidFill>
                  <a:srgbClr val="1F2D3D"/>
                </a:solidFill>
              </a:rPr>
              <a:t>Probability-weighted centroid lands between them, off target</a:t>
            </a:r>
          </a:p>
          <a:p>
            <a:pPr>
              <a:spcAft>
                <a:spcPts val="1000"/>
              </a:spcAft>
            </a:pPr>
            <a:r>
              <a:rPr sz="1600" b="1">
                <a:solidFill>
                  <a:srgbClr val="1B6EC2"/>
                </a:solidFill>
              </a:rPr>
              <a:t>•  </a:t>
            </a:r>
            <a:r>
              <a:rPr sz="1600">
                <a:solidFill>
                  <a:srgbClr val="1F2D3D"/>
                </a:solidFill>
              </a:rPr>
              <a:t>Coarse head is confident about the region, suppresses the decoy</a:t>
            </a:r>
          </a:p>
          <a:p>
            <a:pPr>
              <a:spcAft>
                <a:spcPts val="1000"/>
              </a:spcAft>
            </a:pPr>
            <a:r>
              <a:rPr sz="1600" b="1">
                <a:solidFill>
                  <a:srgbClr val="1B6EC2"/>
                </a:solidFill>
              </a:rPr>
              <a:t>•  </a:t>
            </a:r>
            <a:r>
              <a:rPr sz="1600">
                <a:solidFill>
                  <a:srgbClr val="1F2D3D"/>
                </a:solidFill>
              </a:rPr>
              <a:t>After gating: one clean peak, prediction snaps back on target</a:t>
            </a:r>
          </a:p>
        </p:txBody>
      </p:sp>
      <p:pic>
        <p:nvPicPr>
          <p:cNvPr id="4" name="Picture 3" descr="gating_before_after.png"/>
          <p:cNvPicPr>
            <a:picLocks noChangeAspect="1"/>
          </p:cNvPicPr>
          <p:nvPr/>
        </p:nvPicPr>
        <p:blipFill>
          <a:blip r:embed="rId2"/>
          <a:stretch>
            <a:fillRect/>
          </a:stretch>
        </p:blipFill>
        <p:spPr>
          <a:xfrm>
            <a:off x="580056" y="2697480"/>
            <a:ext cx="11028840" cy="39319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實驗結果 / Experimental Results</a:t>
            </a:r>
          </a:p>
        </p:txBody>
      </p:sp>
      <p:sp>
        <p:nvSpPr>
          <p:cNvPr id="3" name="TextBox 2"/>
          <p:cNvSpPr txBox="1"/>
          <p:nvPr/>
        </p:nvSpPr>
        <p:spPr>
          <a:xfrm>
            <a:off x="1371600" y="1463040"/>
            <a:ext cx="9418320" cy="4937760"/>
          </a:xfrm>
          <a:prstGeom prst="rect">
            <a:avLst/>
          </a:prstGeom>
          <a:noFill/>
        </p:spPr>
        <p:txBody>
          <a:bodyPr wrap="square" anchor="ctr">
            <a:spAutoFit/>
          </a:bodyPr>
          <a:lstStyle/>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full climb: every method change bought real metres, 1.57 to 0.75 m</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Two biggest jumps: the set representation and synthetic coverage</a:t>
            </a:r>
          </a:p>
          <a:p>
            <a:pPr>
              <a:spcAft>
                <a:spcPts val="1000"/>
              </a:spcAft>
            </a:pPr>
            <a:r>
              <a:rPr sz="1800" b="1">
                <a:solidFill>
                  <a:srgbClr val="1B6EC2"/>
                </a:solidFill>
              </a:rPr>
              <a:t>•  </a:t>
            </a:r>
            <a:r>
              <a:rPr sz="1800">
                <a:solidFill>
                  <a:srgbClr val="1F2D3D"/>
                </a:solidFill>
              </a:rPr>
              <a:t>Right inductive bias, not raw capacity, drove every gain</a:t>
            </a:r>
          </a:p>
          <a:p>
            <a:pPr>
              <a:spcAft>
                <a:spcPts val="1000"/>
              </a:spcAft>
            </a:pPr>
            <a:r>
              <a:rPr sz="1800" b="1">
                <a:solidFill>
                  <a:srgbClr val="1B6EC2"/>
                </a:solidFill>
              </a:rPr>
              <a:t>•  </a:t>
            </a:r>
            <a:r>
              <a:rPr sz="1800">
                <a:solidFill>
                  <a:srgbClr val="1F2D3D"/>
                </a:solidFill>
              </a:rPr>
              <a:t>Green = kept milestone, red = abandoned variant</a:t>
            </a:r>
          </a:p>
          <a:p>
            <a:pPr>
              <a:spcAft>
                <a:spcPts val="1000"/>
              </a:spcAft>
            </a:pPr>
            <a:r>
              <a:rPr sz="1800" b="1">
                <a:solidFill>
                  <a:srgbClr val="1B6EC2"/>
                </a:solidFill>
              </a:rPr>
              <a:t>•  </a:t>
            </a:r>
            <a:r>
              <a:rPr sz="1800">
                <a:solidFill>
                  <a:srgbClr val="1F2D3D"/>
                </a:solidFill>
              </a:rPr>
              <a:t>Caption: set-transformer onward = 5-seed; KNN/MLP/MDN = single model</a:t>
            </a:r>
          </a:p>
        </p:txBody>
      </p:sp>
      <p:pic>
        <p:nvPicPr>
          <p:cNvPr id="4" name="Picture 3" descr="ladder_bar.png"/>
          <p:cNvPicPr>
            <a:picLocks noChangeAspect="1"/>
          </p:cNvPicPr>
          <p:nvPr/>
        </p:nvPicPr>
        <p:blipFill>
          <a:blip r:embed="rId2"/>
          <a:stretch>
            <a:fillRect/>
          </a:stretch>
        </p:blipFill>
        <p:spPr>
          <a:xfrm>
            <a:off x="4846320" y="1359131"/>
            <a:ext cx="6949440" cy="505413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whole distribution improved, not just the median</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Cascade CDF sits left of every other model at every percentile</a:t>
            </a:r>
          </a:p>
          <a:p>
            <a:pPr>
              <a:spcAft>
                <a:spcPts val="1000"/>
              </a:spcAft>
            </a:pPr>
            <a:r>
              <a:rPr sz="1600" b="1">
                <a:solidFill>
                  <a:srgbClr val="1B6EC2"/>
                </a:solidFill>
              </a:rPr>
              <a:t>•  </a:t>
            </a:r>
            <a:r>
              <a:rPr sz="1600">
                <a:solidFill>
                  <a:srgbClr val="1F2D3D"/>
                </a:solidFill>
              </a:rPr>
              <a:t>27% of predictions within the 0.3 m AMCL floor</a:t>
            </a:r>
          </a:p>
          <a:p>
            <a:pPr>
              <a:spcAft>
                <a:spcPts val="1000"/>
              </a:spcAft>
            </a:pPr>
            <a:r>
              <a:rPr sz="1600" b="1">
                <a:solidFill>
                  <a:srgbClr val="1B6EC2"/>
                </a:solidFill>
              </a:rPr>
              <a:t>•  </a:t>
            </a:r>
            <a:r>
              <a:rPr sz="1600">
                <a:solidFill>
                  <a:srgbClr val="1F2D3D"/>
                </a:solidFill>
              </a:rPr>
              <a:t>Median 0.79 m, mean 1.12 m, p90 2.56 m</a:t>
            </a:r>
          </a:p>
          <a:p>
            <a:pPr>
              <a:spcAft>
                <a:spcPts val="1000"/>
              </a:spcAft>
            </a:pPr>
            <a:r>
              <a:rPr sz="1600" b="1">
                <a:solidFill>
                  <a:srgbClr val="1B6EC2"/>
                </a:solidFill>
              </a:rPr>
              <a:t>•  </a:t>
            </a:r>
            <a:r>
              <a:rPr sz="1600">
                <a:solidFill>
                  <a:srgbClr val="1F2D3D"/>
                </a:solidFill>
              </a:rPr>
              <a:t>&gt;2 m tail from sparse regions + symmetric-layout ambiguity</a:t>
            </a:r>
          </a:p>
        </p:txBody>
      </p:sp>
      <p:pic>
        <p:nvPicPr>
          <p:cNvPr id="4" name="Picture 3" descr="error_cdf.png"/>
          <p:cNvPicPr>
            <a:picLocks noChangeAspect="1"/>
          </p:cNvPicPr>
          <p:nvPr/>
        </p:nvPicPr>
        <p:blipFill>
          <a:blip r:embed="rId2"/>
          <a:stretch>
            <a:fillRect/>
          </a:stretch>
        </p:blipFill>
        <p:spPr>
          <a:xfrm>
            <a:off x="2817876" y="2697480"/>
            <a:ext cx="6553200" cy="393192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Where to trust it: reliability tracks data density, not network size</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Per-cell mean error mirrors the sample-density map almost exactly</a:t>
            </a:r>
          </a:p>
          <a:p>
            <a:pPr>
              <a:spcAft>
                <a:spcPts val="1000"/>
              </a:spcAft>
            </a:pPr>
            <a:r>
              <a:rPr sz="1600" b="1">
                <a:solidFill>
                  <a:srgbClr val="1B6EC2"/>
                </a:solidFill>
              </a:rPr>
              <a:t>•  </a:t>
            </a:r>
            <a:r>
              <a:rPr sz="1600">
                <a:solidFill>
                  <a:srgbClr val="1F2D3D"/>
                </a:solidFill>
              </a:rPr>
              <a:t>Dense, well-travelled regions: well under 0.5 m</a:t>
            </a:r>
          </a:p>
          <a:p>
            <a:pPr>
              <a:spcAft>
                <a:spcPts val="1000"/>
              </a:spcAft>
            </a:pPr>
            <a:r>
              <a:rPr sz="1600" b="1">
                <a:solidFill>
                  <a:srgbClr val="1B6EC2"/>
                </a:solidFill>
              </a:rPr>
              <a:t>•  </a:t>
            </a:r>
            <a:r>
              <a:rPr sz="1600">
                <a:solidFill>
                  <a:srgbClr val="1F2D3D"/>
                </a:solidFill>
              </a:rPr>
              <a:t>Sparse upper region: error climbs above 2 m</a:t>
            </a:r>
          </a:p>
          <a:p>
            <a:pPr>
              <a:spcAft>
                <a:spcPts val="1000"/>
              </a:spcAft>
            </a:pPr>
            <a:r>
              <a:rPr sz="1600" b="1">
                <a:solidFill>
                  <a:srgbClr val="1B6EC2"/>
                </a:solidFill>
              </a:rPr>
              <a:t>•  </a:t>
            </a:r>
            <a:r>
              <a:rPr sz="1600">
                <a:solidFill>
                  <a:srgbClr val="1F2D3D"/>
                </a:solidFill>
              </a:rPr>
              <a:t>The fix is more data, not a bigger model</a:t>
            </a:r>
          </a:p>
        </p:txBody>
      </p:sp>
      <p:pic>
        <p:nvPicPr>
          <p:cNvPr id="4" name="Picture 3" descr="region_reliability.png"/>
          <p:cNvPicPr>
            <a:picLocks noChangeAspect="1"/>
          </p:cNvPicPr>
          <p:nvPr/>
        </p:nvPicPr>
        <p:blipFill>
          <a:blip r:embed="rId2"/>
          <a:stretch>
            <a:fillRect/>
          </a:stretch>
        </p:blipFill>
        <p:spPr>
          <a:xfrm>
            <a:off x="2111847" y="2697480"/>
            <a:ext cx="7965258" cy="393192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We caught our own overfitting: 0.650 m was a mirage, 0.752 m is the honest headline</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Greedy ensemble of 33 candidates hit 0.650 m — but picked ON the test set</a:t>
            </a:r>
          </a:p>
          <a:p>
            <a:pPr>
              <a:spcAft>
                <a:spcPts val="1000"/>
              </a:spcAft>
            </a:pPr>
            <a:r>
              <a:rPr sz="1600" b="1">
                <a:solidFill>
                  <a:srgbClr val="1B6EC2"/>
                </a:solidFill>
              </a:rPr>
              <a:t>•  </a:t>
            </a:r>
            <a:r>
              <a:rPr sz="1600">
                <a:solidFill>
                  <a:srgbClr val="1F2D3D"/>
                </a:solidFill>
              </a:rPr>
              <a:t>Held-out val exposed it at 0.710 m — a ~0.07 m selection bias we refused to report</a:t>
            </a:r>
          </a:p>
          <a:p>
            <a:pPr>
              <a:spcAft>
                <a:spcPts val="1000"/>
              </a:spcAft>
            </a:pPr>
            <a:r>
              <a:rPr sz="1600" b="1">
                <a:solidFill>
                  <a:srgbClr val="1B6EC2"/>
                </a:solidFill>
              </a:rPr>
              <a:t>•  </a:t>
            </a:r>
            <a:r>
              <a:rPr sz="1600">
                <a:solidFill>
                  <a:srgbClr val="1F2D3D"/>
                </a:solidFill>
              </a:rPr>
              <a:t>Strictest leak-free nested 5-fold CV (4/5 data per fold) = ~0.95 m</a:t>
            </a:r>
          </a:p>
          <a:p>
            <a:pPr>
              <a:spcAft>
                <a:spcPts val="1000"/>
              </a:spcAft>
            </a:pPr>
            <a:r>
              <a:rPr sz="1600" b="1">
                <a:solidFill>
                  <a:srgbClr val="1B6EC2"/>
                </a:solidFill>
              </a:rPr>
              <a:t>•  </a:t>
            </a:r>
            <a:r>
              <a:rPr sz="1600">
                <a:solidFill>
                  <a:srgbClr val="1F2D3D"/>
                </a:solidFill>
              </a:rPr>
              <a:t>SWA (top literature method) moved 0.025 &lt; bootstrap SE 0.037 -&gt; not adopted</a:t>
            </a:r>
          </a:p>
        </p:txBody>
      </p:sp>
      <p:pic>
        <p:nvPicPr>
          <p:cNvPr id="4" name="Picture 3" descr="honest_validation.png"/>
          <p:cNvPicPr>
            <a:picLocks noChangeAspect="1"/>
          </p:cNvPicPr>
          <p:nvPr/>
        </p:nvPicPr>
        <p:blipFill>
          <a:blip r:embed="rId2"/>
          <a:stretch>
            <a:fillRect/>
          </a:stretch>
        </p:blipFill>
        <p:spPr>
          <a:xfrm>
            <a:off x="1454543" y="2697480"/>
            <a:ext cx="9279865" cy="39319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Bigger and fancier consistently lost: at 1.4k samples, bias beats capacity</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Diffusion head +130% (sampling noise on a deterministic task)</a:t>
            </a:r>
          </a:p>
          <a:p>
            <a:pPr>
              <a:spcAft>
                <a:spcPts val="1000"/>
              </a:spcAft>
            </a:pPr>
            <a:r>
              <a:rPr sz="1600" b="1">
                <a:solidFill>
                  <a:srgbClr val="1B6EC2"/>
                </a:solidFill>
              </a:rPr>
              <a:t>•  </a:t>
            </a:r>
            <a:r>
              <a:rPr sz="1600">
                <a:solidFill>
                  <a:srgbClr val="1F2D3D"/>
                </a:solidFill>
              </a:rPr>
              <a:t>CNN floor-plan cross-attention +8.5%; C-Mixup +6%</a:t>
            </a:r>
          </a:p>
          <a:p>
            <a:pPr>
              <a:spcAft>
                <a:spcPts val="1000"/>
              </a:spcAft>
            </a:pPr>
            <a:r>
              <a:rPr sz="1600" b="1">
                <a:solidFill>
                  <a:srgbClr val="1B6EC2"/>
                </a:solidFill>
              </a:rPr>
              <a:t>•  </a:t>
            </a:r>
            <a:r>
              <a:rPr sz="1600">
                <a:solidFill>
                  <a:srgbClr val="1F2D3D"/>
                </a:solidFill>
              </a:rPr>
              <a:t>Cascade-big (1.7M params) overfit; 3-level cascade no gain</a:t>
            </a:r>
          </a:p>
          <a:p>
            <a:pPr>
              <a:spcAft>
                <a:spcPts val="1000"/>
              </a:spcAft>
            </a:pPr>
            <a:r>
              <a:rPr sz="1600" b="1">
                <a:solidFill>
                  <a:srgbClr val="1B6EC2"/>
                </a:solidFill>
              </a:rPr>
              <a:t>•  </a:t>
            </a:r>
            <a:r>
              <a:rPr sz="1600">
                <a:solidFill>
                  <a:srgbClr val="1F2D3D"/>
                </a:solidFill>
              </a:rPr>
              <a:t>Lesson: at ~1,449 single-scan samples, capacity buys nothing</a:t>
            </a:r>
          </a:p>
        </p:txBody>
      </p:sp>
      <p:pic>
        <p:nvPicPr>
          <p:cNvPr id="4" name="Picture 3" descr="error_boxplot.png"/>
          <p:cNvPicPr>
            <a:picLocks noChangeAspect="1"/>
          </p:cNvPicPr>
          <p:nvPr/>
        </p:nvPicPr>
        <p:blipFill>
          <a:blip r:embed="rId2"/>
          <a:stretch>
            <a:fillRect/>
          </a:stretch>
        </p:blipFill>
        <p:spPr>
          <a:xfrm>
            <a:off x="2490216" y="2697480"/>
            <a:ext cx="7208520" cy="393192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error splits cleanly: 27% solved at the label floor, 16% unsolvable</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27% of predictions sit at the 0.3 m AMCL floor (label-limited, not improvable)</a:t>
            </a:r>
          </a:p>
          <a:p>
            <a:pPr>
              <a:spcAft>
                <a:spcPts val="1000"/>
              </a:spcAft>
            </a:pPr>
            <a:r>
              <a:rPr sz="1800" b="1">
                <a:solidFill>
                  <a:srgbClr val="1B6EC2"/>
                </a:solidFill>
              </a:rPr>
              <a:t>•  </a:t>
            </a:r>
            <a:r>
              <a:rPr sz="1800">
                <a:solidFill>
                  <a:srgbClr val="1F2D3D"/>
                </a:solidFill>
              </a:rPr>
              <a:t>~16% are &gt;2 m outliers from WiFi symmetric ambiguity (two places, same RSSI)</a:t>
            </a:r>
          </a:p>
          <a:p>
            <a:pPr>
              <a:spcAft>
                <a:spcPts val="1000"/>
              </a:spcAft>
            </a:pPr>
            <a:r>
              <a:rPr sz="1800" b="1">
                <a:solidFill>
                  <a:srgbClr val="1B6EC2"/>
                </a:solidFill>
              </a:rPr>
              <a:t>•  </a:t>
            </a:r>
            <a:r>
              <a:rPr sz="1800">
                <a:solidFill>
                  <a:srgbClr val="1F2D3D"/>
                </a:solidFill>
              </a:rPr>
              <a:t>Worst-10 cluster in the sparse upper region and mirror-symmetric spots</a:t>
            </a:r>
          </a:p>
          <a:p>
            <a:pPr>
              <a:spcAft>
                <a:spcPts val="1000"/>
              </a:spcAft>
            </a:pPr>
            <a:r>
              <a:rPr sz="1800" b="1">
                <a:solidFill>
                  <a:srgbClr val="1B6EC2"/>
                </a:solidFill>
              </a:rPr>
              <a:t>•  </a:t>
            </a:r>
            <a:r>
              <a:rPr sz="1800">
                <a:solidFill>
                  <a:srgbClr val="1F2D3D"/>
                </a:solidFill>
              </a:rPr>
              <a:t>No model can separate identical fingerprints — only new signals can</a:t>
            </a:r>
          </a:p>
        </p:txBody>
      </p:sp>
      <p:pic>
        <p:nvPicPr>
          <p:cNvPr id="4" name="Picture 3" descr="cascade_worst10.png"/>
          <p:cNvPicPr>
            <a:picLocks noChangeAspect="1"/>
          </p:cNvPicPr>
          <p:nvPr/>
        </p:nvPicPr>
        <p:blipFill>
          <a:blip r:embed="rId2"/>
          <a:stretch>
            <a:fillRect/>
          </a:stretch>
        </p:blipFill>
        <p:spPr>
          <a:xfrm>
            <a:off x="5323840" y="1188720"/>
            <a:ext cx="5994400" cy="539496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Live in the lab: ESP32 to 9 ms CPU inference to live heatmap</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Real ESP32 streaming live scans; CPU-only inference ~9 ms/scan (no GPU)</a:t>
            </a:r>
          </a:p>
          <a:p>
            <a:pPr>
              <a:spcAft>
                <a:spcPts val="1000"/>
              </a:spcAft>
            </a:pPr>
            <a:r>
              <a:rPr sz="1800" b="1">
                <a:solidFill>
                  <a:srgbClr val="1B6EC2"/>
                </a:solidFill>
              </a:rPr>
              <a:t>•  </a:t>
            </a:r>
            <a:r>
              <a:rPr sz="1800">
                <a:solidFill>
                  <a:srgbClr val="1F2D3D"/>
                </a:solidFill>
              </a:rPr>
              <a:t>Live position + probability heatmap rendered on the floor plan</a:t>
            </a:r>
          </a:p>
          <a:p>
            <a:pPr>
              <a:spcAft>
                <a:spcPts val="1000"/>
              </a:spcAft>
            </a:pPr>
            <a:r>
              <a:rPr sz="1800" b="1">
                <a:solidFill>
                  <a:srgbClr val="1B6EC2"/>
                </a:solidFill>
              </a:rPr>
              <a:t>•  </a:t>
            </a:r>
            <a:r>
              <a:rPr sz="1800">
                <a:solidFill>
                  <a:srgbClr val="1F2D3D"/>
                </a:solidFill>
              </a:rPr>
              <a:t>80-95% of live APs match the trained vocabulary (no drift)</a:t>
            </a:r>
          </a:p>
          <a:p>
            <a:pPr>
              <a:spcAft>
                <a:spcPts val="1000"/>
              </a:spcAft>
            </a:pPr>
            <a:r>
              <a:rPr sz="1800" b="1">
                <a:solidFill>
                  <a:srgbClr val="1B6EC2"/>
                </a:solidFill>
              </a:rPr>
              <a:t>•  </a:t>
            </a:r>
            <a:r>
              <a:rPr sz="1800">
                <a:solidFill>
                  <a:srgbClr val="1F2D3D"/>
                </a:solidFill>
              </a:rPr>
              <a:t>Standing still: prediction spread &lt;0.1 m; ground-truth check 0.4-0.8 m</a:t>
            </a:r>
          </a:p>
        </p:txBody>
      </p:sp>
      <p:pic>
        <p:nvPicPr>
          <p:cNvPr id="4" name="Picture 3" descr="demo_snapshot.png"/>
          <p:cNvPicPr>
            <a:picLocks noChangeAspect="1"/>
          </p:cNvPicPr>
          <p:nvPr/>
        </p:nvPicPr>
        <p:blipFill>
          <a:blip r:embed="rId2"/>
          <a:stretch>
            <a:fillRect/>
          </a:stretch>
        </p:blipFill>
        <p:spPr>
          <a:xfrm>
            <a:off x="5623560" y="1188720"/>
            <a:ext cx="5394960" cy="5394960"/>
          </a:xfrm>
          <a:prstGeom prst="rect">
            <a:avLst/>
          </a:prstGeom>
        </p:spPr>
      </p:pic>
      <p:sp>
        <p:nvSpPr>
          <p:cNvPr id="5" name="Oval 4"/>
          <p:cNvSpPr/>
          <p:nvPr/>
        </p:nvSpPr>
        <p:spPr>
          <a:xfrm>
            <a:off x="7781544" y="3346704"/>
            <a:ext cx="1078992" cy="1078992"/>
          </a:xfrm>
          <a:prstGeom prst="ellipse">
            <a:avLst/>
          </a:prstGeom>
          <a:solidFill>
            <a:srgbClr val="11111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8186166" y="3616452"/>
            <a:ext cx="539496" cy="539496"/>
          </a:xfrm>
          <a:prstGeom prst="triangl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0" y="6172200"/>
            <a:ext cx="5394960" cy="411480"/>
          </a:xfrm>
          <a:prstGeom prst="rect">
            <a:avLst/>
          </a:prstGeom>
          <a:noFill/>
        </p:spPr>
        <p:txBody>
          <a:bodyPr wrap="square">
            <a:spAutoFit/>
          </a:bodyPr>
          <a:lstStyle/>
          <a:p>
            <a:pPr algn="ctr"/>
            <a:r>
              <a:rPr sz="1300" b="1">
                <a:solidFill>
                  <a:srgbClr val="1B6EC2"/>
                </a:solidFill>
              </a:rPr>
              <a:t>▶  LIVE DEMO VIDEO — replace this slide image with the recording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Honest verdict: ~0.75 m is real, sub-0.65 m needs new data, not a deeper net</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Halved KNN error to an honest 0.752 m median, validated on real hardware</a:t>
            </a:r>
          </a:p>
          <a:p>
            <a:pPr>
              <a:spcAft>
                <a:spcPts val="1000"/>
              </a:spcAft>
            </a:pPr>
            <a:r>
              <a:rPr sz="1800" b="1">
                <a:solidFill>
                  <a:srgbClr val="1B6EC2"/>
                </a:solidFill>
              </a:rPr>
              <a:t>•  </a:t>
            </a:r>
            <a:r>
              <a:rPr sz="1800">
                <a:solidFill>
                  <a:srgbClr val="1F2D3D"/>
                </a:solidFill>
              </a:rPr>
              <a:t>Won by inductive bias (set input, grid classification, coarse gate), not capacity</a:t>
            </a:r>
          </a:p>
          <a:p>
            <a:pPr>
              <a:spcAft>
                <a:spcPts val="1000"/>
              </a:spcAft>
            </a:pPr>
            <a:r>
              <a:rPr sz="1800" b="1">
                <a:solidFill>
                  <a:srgbClr val="1B6EC2"/>
                </a:solidFill>
              </a:rPr>
              <a:t>•  </a:t>
            </a:r>
            <a:r>
              <a:rPr sz="1800">
                <a:solidFill>
                  <a:srgbClr val="1F2D3D"/>
                </a:solidFill>
              </a:rPr>
              <a:t>Honesty is the result: exposed a 0.650 m mirage, reported ~0.95 m nested-CV</a:t>
            </a:r>
          </a:p>
          <a:p>
            <a:pPr>
              <a:spcAft>
                <a:spcPts val="1000"/>
              </a:spcAft>
            </a:pPr>
            <a:r>
              <a:rPr sz="1800" b="1">
                <a:solidFill>
                  <a:srgbClr val="1B6EC2"/>
                </a:solidFill>
              </a:rPr>
              <a:t>•  </a:t>
            </a:r>
            <a:r>
              <a:rPr sz="1800">
                <a:solidFill>
                  <a:srgbClr val="1F2D3D"/>
                </a:solidFill>
              </a:rPr>
              <a:t>To break 0.6x: upper-region data, IMU/heading, temporal fusion — not depth</a:t>
            </a:r>
          </a:p>
        </p:txBody>
      </p:sp>
      <p:pic>
        <p:nvPicPr>
          <p:cNvPr id="4" name="Picture 3" descr="ladder_bar.png"/>
          <p:cNvPicPr>
            <a:picLocks noChangeAspect="1"/>
          </p:cNvPicPr>
          <p:nvPr/>
        </p:nvPicPr>
        <p:blipFill>
          <a:blip r:embed="rId2"/>
          <a:stretch>
            <a:fillRect/>
          </a:stretch>
        </p:blipFill>
        <p:spPr>
          <a:xfrm>
            <a:off x="4846320" y="1359131"/>
            <a:ext cx="6949440" cy="505413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