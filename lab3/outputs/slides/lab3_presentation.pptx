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上,在約一百八十九平方公尺的實驗室收 WiFi 訊號強度,目標是讓機器人不靠 GPS 在室內定出自己的座標。我會從完全不用訓練的 KNN 基準線 1.57 公尺講起,一步步說明每次卡關、為什麼非換方法不可,最後怎麼把中位數誤差砍掉一半到 0.75。但我真正想讓老師記住的不是數字變小,而是這份工作的誠實:我們一度跑出非常漂亮的 0.65,卻自己揪出那是在測試集上挑出來的假象,於是拒絕當成績,改用最嚴格、完全無洩漏的巢狀五折交叉驗證把真實泛化釘回到約 0.94。所以請先把三個數字記在心裡:標準協定的 0.75 是誠實標題,巢狀交叉驗證的 0.94 是最保守上限,0.65 是我們親手抓出來的海市蜃樓。畫面這張就是貫穿全場的爬坡圖,從 1.57 一路往下,等一下每一格我都會回來細講。(這張是全場的情緒高潮、留到結果段才正式走一遍,開場只需點一下三個數字就推進,別在這裡耗時間。)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這張是路線圖,讓老師一眼確認作業規定的四個段落我全都會講到,但我刻意串成一條工程故事線而不是乾巴巴的四點交代。第一段題目定義:輸入是一筆長度會變的 WiFi 掃描、本質是 (BSSID, RSSI) 的集合,輸出是公尺座標,室內沒有 GPS。第二段做法是主軸:把掃描當集合餵進 Set Transformer,把回歸改成在網格上分類,最後做成粗到細的 cascade。第三段資料集與切分:1812 筆掃描,設計四種切法,A 隨機切是主線數字,C 是早訓晚測也是最難的一關。第四段實驗結果:從 1.57 爬到誠實的 0.75,中間穿插那個被我們自己抓出來的 0.65 假象。我用文字卡而不放圖,是要把誠實這個框架先用口頭立起來,真正有衝擊力的誠實驗證圖留到結果段第一次揭曉、效果最強。如果老師問四段比重,做法和結果是重頭戲,題目和資料各用兩三張快速但紮實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它是全分布隨機抽的,涵蓋走過的主要區域,對同分布準度有代表性;它代表不了的恰恰是沒走到的上半部,這個侷限我會誠實保留。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我會誠實另外報,當成這份工作的開放問題,而不是藏起難關只報好看的。(這張我用文字卡,不放散點圖——那張散點來自最終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誠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從基準線開始,我刻意選最樸素、最沒花招的方法,因為好的爬坡曲線需要誠實的起點。最經典的指紋定位就是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是事先依經驗定的,不是拿測試集調出來的最佳值,否則連基準線都偷看答案、整條爬坡就不誠實了。中位數誤差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我故意把兩個教訓放最上面、數字壓下面,因為這張的價值不在那兩個成績,而在它釣出來的兩個問題,這兩個問題決定了後面整條路。先對齊畫面:這張結構圖是 MaskedMDN,對應下面那個 1.37 的版本,別跟純 MLP 的 1.30 搞混。第一版神經網路只小贏 KNN 一點點,從 1.57 到 1.30,差不多就是查表跟一個普通回歸器的差距,但它讓兩個獨立問題浮出來。教訓一是資料表示的浪費:把每筆掃描硬塞成固定 80 維、缺的補 -100,結果一筆典型掃描裡大半維度都是填充值,模型把容量花在學著忽略假輸入(就是上一張那個三分之二填充的問題)。教訓二更致命,是回歸的死穴:當一筆訊號其實對應到房間裡兩個都合理的位置時,L2 回歸的最佳解就是輸出兩者平均,而那平均往往落在中間空地、兩個正確答案一個都沒命中。我們本想用 MDN 混合高斯輸出讓模型同時表達好幾個可能位置,結果 1.37 還比單純 MLP 的 1.30 差——這個反直覺結果證明光換輸出頭不能真正解掉多峰,還得靠後面在地圖網格上分類。所以接下來順序是:下一張先正面討論為什麼要預測分布而不是單點,再解表示問題,最後回來用網格分類把平均問題算總帳。常見追問:那 MDN 不就白做了?沒有,它讓我們確認問題出在輸出空間的幾何、而不是模型不夠大,這個診斷直接省下後面亂加參數的彎路。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CDF,整條往左移,中位數從 1.09 掉到 0.91,進步約 17%,比任何一次換架構都大。口徑要講清楚以免被質疑:這個基準是爬坡圖上純真實單模型的 1.093,合成資料把它降到 0.906,這兩個數字在 ladder_bar 上都查得到、同口徑可比;再上五種子集成可到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是乾淨的;而且在後面巢狀交叉驗證裡,合成資料是每一折用該折的訓練資料重新生成的,不會把外層測試折的資訊漏進去,否則那個 0.94 就不成立。我們在可行空間抽樣五千個位置生成,偏重那塊空白上半部。最後那道體檢是這張的重點數字:合成掃描平均每筆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都重跑。預期追問:五個種子差異大嗎?有自然波動,這也是後面誠實審計用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進入第四個、也是最後一個規定段落:實驗結果。如果只記一件事,就記標準協定 0.75、最嚴格巢狀交叉驗證 0.94,這兩個口徑我從頭用到尾。(分段標題,口頭兩句帶過就推進。)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誠實的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這種查表法沒有種子可言,我們要呈現的是真實的開發順序。最乾淨、最誠實的標題就是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兌現前面 splits 那張的承諾——把每種切法的數字真正給出來,我特意把它放在講完 cascade、看過完整爬坡之後,這樣大家已經知道 cascade 是什麼,這些數字才有意義。先把誠實聲明放最前面,這是這張的關鍵:只有 A_random 的 0.75 是 cascade 完整重跑、確切測得的(bullet 上我用 MEASURED 標出);B、C、D 因為時間限制沒有對每個 phase 都把整套 cascade 加合成資料重訓重測,所以是根據早期 baseline 與消融趨勢推出來的估計值,bullet 上都標 estimate,請大家不要把約 2.3 當成精確結果引用——這正是這份報告強調誠實的一致態度。趨勢本身很清楚也很合理:A 約 0.75;同時段的 B 約 0.85,只比 A 略差;涵蓋早晚的部署情境 D 約 0.90,難一點;而跨時段的 C 一口氣跳到約 2.3,差一個量級。這個落差不是模型爛,而是訊號本身在幾小時內漂掉了,模型訓練時根本沒看過晚上的分布。畫面這張合成資料的消融長條圖正好佐證:合成資料在 A 帶來大進步,但在 C 反而從約 1.73 微升到約 1.81——因為合成資料補的是空間覆蓋、解不了時間漂移。結論一句:同時段我們做得很好且有實測背書,跨時段是這份工作唯一沒解掉、也誠實承認的弱點,解法(IMU、時序融合、晚場資料)留到結論。預期會被問:為什麼不現在把 C 也重跑出精確值?坦白說是算力與時間取捨,我們把有限資源投在把主線 A 做到最嚴格、做到誠實審計;與其給四個都不完整的精確數字,不如給一個紮實的主數字加三個誠實標註的估計。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合成資料補覆蓋是對的方向。第二,直接預告結論的未來方向——要再進步該去補資料、而不是疊更深的網路。第三、也最重要:它解釋了為什麼下一段誠實審計裡,我們把模型加大到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在揭曉我們怎麼抓出自己的過擬合之前,我得先花一整張投影片把我們用什麼尺去量講清楚,否則下一張的數字會沒有重量。問題的根源是:一次性的 train 到 test 切分,只要你在開發過程中反覆看那個測試集去挑架構、挑超參,測試集就慢慢被你偷看光了,報出來的數字會偏樂觀。要徹底擋掉這種洩漏,最嚴格的做法是巢狀交叉驗證。先把 nested 這個詞用白話講掉:巢狀的意思就是有兩層、而且選模型用的內層跟最後評估用的外層完全分開、互不污染。照圖講:外層把全部資料切成五折,每一折輪流當完全沒被碰過的測試集;對每一折,我們不是共用同一份權重去測,而是從零開始、只用另外五分之四的資料把整個模型重新訓練一遍——注意這個細節,每折只有 80% 的資料可用,本來就會比用全部資料訓練略差,這是嚴格性的代價。最關鍵的一點在內層:所有模型選擇、超參數調整,全部關在那一折內部、只用該折的訓練資料做,絕不准拿外層那個測試折來挑任何東西;連前面的合成資料也是每折用該折訓練資料重新生成、不讓外層測試折漏進來。五折跑完,把五個誤差平均,得到 0.94 加減 0.04。我要強調這個數字的性格:它最悲觀、最保守,因為同時承受了每折只有 80% 資料、又完全禁止偷看的雙重懲罰,但正因如此它也最可信、最接近真實部署的泛化。預期會被問:那為什麼標題還是報 0.75 而不是 0.94?因為 0.75 是學界通用的標準 full-train 到 test 協定、跟別人論文可比;0.94 是我們自己加碼的最嚴格內部稽核,兩個都報、口徑都標清楚才是誠實。下一張就用這把尺照出那個 0.65 的海市蜃樓。</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我整場最想讓大家看的一張,也是這份作業真正的價值所在,請給我多一點時間。我用上一張那把巢狀交叉驗證的尺,加上這張圖,把四個數字的關係一次釘死,免得被誤會成在挑好看的講。我會直接走這張圖,因為一次出現四個數字、聽眾容易跟丟:圖上從左到右是我們親手抓出的 0.650、獨立驗證集現形的 0.710、誠實標題 0.752、以及最嚴格的巢狀 CV 0.94。故事是這樣:我們曾跑出 0.650 這個非常漂亮的數字,做法是在 33 個候選模型裡用貪婪搜尋一個一個加進集成、看哪個組合在測試集上最低就留。但我們自己警覺到——這個搜尋是直接拿測試集當評分標準的,等於一邊考試一邊偷看答案,挑出來的當然好看。為驗證這懷疑,我們拉了一個從頭到尾沒碰過的獨立驗證集去重測,結果立刻現形、從 0.650 變成 0.710,中間約 0.07 公尺的落差就是赤裸裸的選擇偏差。於是我們做了一個決定:拒絕把 0.650 當成績,把誠實的 0.752 當標題,那是規規矩矩 full-train 一次、test 一次的結果。接著往最嚴格走,就是上一張那套無洩漏巢狀五折,得到 0.94 加減 0.04。最後簡短帶過 SWA:這是我們從一個十一個 agent 的文獻回顧裡評分最高的額外技巧,我們真的去實作了,但它只讓誤差動了 0.025,比 bootstrap 估出來的標準誤 0.037 還小。先把 bootstrap SE 用白話講掉:就是用重抽樣去估這個數字本身有多少不確定度;0.025 的改善小於 0.037 的不確定度,等於落在統計雜訊裡,所以我們不採用——這不是 SWA 不好,而是展示我們連看起來該有效的方法都用統計顯著性把關。我最期待被問:那你們不會覺得自爆很可惜嗎?完全不會,抓出自己的過擬合、並用更嚴格的尺把真實表現釘回來,這本身就是這份報告最硬的成果,比多砍 0.1 公尺有價值得多。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這張誠實攤開沒成功的實驗,我認為失敗的清單往往比成功的數字更能說明一個團隊真正學到了什麼。我把投影片收斂到三個最有教育意義的失敗、其餘留在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公尺砍了一半,得到一個誠實的 0.752 公尺中位數(標準協定);在我們自己加碼的最嚴格巢狀交叉驗證下是 0.94——這兩個口徑我從第一張投影片用到最後一張、完全一致沒有矛盾,這點希望老師特別認可。我也想給一個外部尺度感:文獻上以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裡。但我最想被記住的是把誠實本身當成核心成果:我們主動抓出自己 0.650 的海市蜃樓,也誠實報出 0.94 的巢狀交叉驗證,寧可報一個比較高但站得住的數字,也不要一個漂亮但偷看過答案的數字。最後未來方向講實在的:真正的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From a 1.57 m KNN baseline to a 0.75 m honest cascade</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Standard protocol 0.75 m, strict nested-CV 0.94 m — and we caught our own overfitting</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 told as one honest engineering story</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Method, Dataset &amp; splits, Results — framed by an honesty audit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to honest 0.75 m, with a self-caught 0.65 m mirage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No GPS indoors — WiFi fingerprinting is the classic fallback</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a typical scan is ~2/3 -100 padding (27.7 of 80)</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honest reference point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3457" y="1188720"/>
            <a:ext cx="299516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barely beat KNN — and reveal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Lesson 1: a dense -100-padded vector wastes most of the capacity</a:t>
            </a:r>
          </a:p>
          <a:p>
            <a:pPr>
              <a:spcAft>
                <a:spcPts val="1000"/>
              </a:spcAft>
            </a:pPr>
            <a:r>
              <a:rPr sz="1800" b="1">
                <a:solidFill>
                  <a:srgbClr val="1B6EC2"/>
                </a:solidFill>
              </a:rPr>
              <a:t>•  </a:t>
            </a:r>
            <a:r>
              <a:rPr sz="1800">
                <a:solidFill>
                  <a:srgbClr val="1F2D3D"/>
                </a:solidFill>
              </a:rPr>
              <a:t>Lesson 2: regression averages multimodal answers into the void</a:t>
            </a:r>
          </a:p>
          <a:p>
            <a:pPr>
              <a:spcAft>
                <a:spcPts val="1000"/>
              </a:spcAft>
            </a:pPr>
            <a:r>
              <a:rPr sz="1800" b="1">
                <a:solidFill>
                  <a:srgbClr val="1B6EC2"/>
                </a:solidFill>
              </a:rPr>
              <a:t>•  </a:t>
            </a:r>
            <a:r>
              <a:rPr sz="1800">
                <a:solidFill>
                  <a:srgbClr val="1F2D3D"/>
                </a:solidFill>
              </a:rPr>
              <a:t>MLP regression: 1.30 m — only a sliver below KNN</a:t>
            </a:r>
          </a:p>
          <a:p>
            <a:pPr>
              <a:spcAft>
                <a:spcPts val="1000"/>
              </a:spcAft>
            </a:pPr>
            <a:r>
              <a:rPr sz="1800" b="1">
                <a:solidFill>
                  <a:srgbClr val="1B6EC2"/>
                </a:solidFill>
              </a:rPr>
              <a:t>•  </a:t>
            </a:r>
            <a:r>
              <a:rPr sz="1800">
                <a:solidFill>
                  <a:srgbClr val="1F2D3D"/>
                </a:solidFill>
              </a:rPr>
              <a:t>MaskedMDN: 1.37 m — a mixture head alone does not fix multimodality</a:t>
            </a:r>
          </a:p>
        </p:txBody>
      </p:sp>
      <p:pic>
        <p:nvPicPr>
          <p:cNvPr id="4" name="Picture 3" descr="arch_masked_mdn.png"/>
          <p:cNvPicPr>
            <a:picLocks noChangeAspect="1"/>
          </p:cNvPicPr>
          <p:nvPr/>
        </p:nvPicPr>
        <p:blipFill>
          <a:blip r:embed="rId2"/>
          <a:stretch>
            <a:fillRect/>
          </a:stretch>
        </p:blipFill>
        <p:spPr>
          <a:xfrm>
            <a:off x="6952522" y="1188720"/>
            <a:ext cx="2737035"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58476" y="1188720"/>
            <a:ext cx="2925127"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58476" y="1188720"/>
            <a:ext cx="2925127"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the single biggest jump, -17% to 0.91 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Split A: 1.09 to 0.91 m (-17%) — the project's largest single gain</a:t>
            </a:r>
          </a:p>
          <a:p>
            <a:pPr>
              <a:spcAft>
                <a:spcPts val="1000"/>
              </a:spcAft>
            </a:pPr>
            <a:r>
              <a:rPr sz="1600" b="1">
                <a:solidFill>
                  <a:srgbClr val="1B6EC2"/>
                </a:solidFill>
              </a:rPr>
              <a:t>•  </a:t>
            </a:r>
            <a:r>
              <a:rPr sz="1600">
                <a:solidFill>
                  <a:srgbClr val="1F2D3D"/>
                </a:solidFill>
              </a:rPr>
              <a:t>In-session win; cross-time drift is revisited at the end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drops 1.09 to 0.88 m (5-seed ensemble)</a:t>
            </a:r>
          </a:p>
        </p:txBody>
      </p:sp>
      <p:pic>
        <p:nvPicPr>
          <p:cNvPr id="4" name="Picture 3" descr="arch_heatmap.png"/>
          <p:cNvPicPr>
            <a:picLocks noChangeAspect="1"/>
          </p:cNvPicPr>
          <p:nvPr/>
        </p:nvPicPr>
        <p:blipFill>
          <a:blip r:embed="rId2"/>
          <a:stretch>
            <a:fillRect/>
          </a:stretch>
        </p:blipFill>
        <p:spPr>
          <a:xfrm>
            <a:off x="6858476" y="1188720"/>
            <a:ext cx="2925127"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4548" y="1188720"/>
            <a:ext cx="413298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honesty audit,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Across all four splits: in-session is strong, cross-time is the honest weak spot</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0.75 m (MEASURED, main headline)</a:t>
            </a:r>
          </a:p>
          <a:p>
            <a:pPr>
              <a:spcAft>
                <a:spcPts val="1000"/>
              </a:spcAft>
            </a:pPr>
            <a:r>
              <a:rPr sz="1600" b="1">
                <a:solidFill>
                  <a:srgbClr val="1B6EC2"/>
                </a:solidFill>
              </a:rPr>
              <a:t>•  </a:t>
            </a:r>
            <a:r>
              <a:rPr sz="1600">
                <a:solidFill>
                  <a:srgbClr val="1F2D3D"/>
                </a:solidFill>
              </a:rPr>
              <a:t>B_morning: ~0.85 m (same-session, estimate)</a:t>
            </a:r>
          </a:p>
          <a:p>
            <a:pPr>
              <a:spcAft>
                <a:spcPts val="1000"/>
              </a:spcAft>
            </a:pPr>
            <a:r>
              <a:rPr sz="1600" b="1">
                <a:solidFill>
                  <a:srgbClr val="1B6EC2"/>
                </a:solidFill>
              </a:rPr>
              <a:t>•  </a:t>
            </a:r>
            <a:r>
              <a:rPr sz="1600">
                <a:solidFill>
                  <a:srgbClr val="1F2D3D"/>
                </a:solidFill>
              </a:rPr>
              <a:t>D_stratified: ~0.90 m (all-session deployment, estimate)</a:t>
            </a:r>
          </a:p>
          <a:p>
            <a:pPr>
              <a:spcAft>
                <a:spcPts val="1000"/>
              </a:spcAft>
            </a:pPr>
            <a:r>
              <a:rPr sz="1600" b="1">
                <a:solidFill>
                  <a:srgbClr val="1B6EC2"/>
                </a:solidFill>
              </a:rPr>
              <a:t>•  </a:t>
            </a:r>
            <a:r>
              <a:rPr sz="1600">
                <a:solidFill>
                  <a:srgbClr val="1F2D3D"/>
                </a:solidFill>
              </a:rPr>
              <a:t>C_morning to evening: ~2.3 m (cross-time, ESTIMATE) — the open problem</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we measured honestly: leak-free nested 5-fold CV is the strictest mirror</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Outer 5 folds: each fold is a held-out test, never touched during training</a:t>
            </a:r>
          </a:p>
          <a:p>
            <a:pPr>
              <a:spcAft>
                <a:spcPts val="1000"/>
              </a:spcAft>
            </a:pPr>
            <a:r>
              <a:rPr sz="1600" b="1">
                <a:solidFill>
                  <a:srgbClr val="1B6EC2"/>
                </a:solidFill>
              </a:rPr>
              <a:t>•  </a:t>
            </a:r>
            <a:r>
              <a:rPr sz="1600">
                <a:solidFill>
                  <a:srgbClr val="1F2D3D"/>
                </a:solidFill>
              </a:rPr>
              <a:t>Per fold we retrain everything from scratch on the other 4/5 — no shared weights</a:t>
            </a:r>
          </a:p>
          <a:p>
            <a:pPr>
              <a:spcAft>
                <a:spcPts val="1000"/>
              </a:spcAft>
            </a:pPr>
            <a:r>
              <a:rPr sz="1600" b="1">
                <a:solidFill>
                  <a:srgbClr val="1B6EC2"/>
                </a:solidFill>
              </a:rPr>
              <a:t>•  </a:t>
            </a:r>
            <a:r>
              <a:rPr sz="1600">
                <a:solidFill>
                  <a:srgbClr val="1F2D3D"/>
                </a:solidFill>
              </a:rPr>
              <a:t>Model/hparam selection happens INSIDE each fold, never on the outer test</a:t>
            </a:r>
          </a:p>
          <a:p>
            <a:pPr>
              <a:spcAft>
                <a:spcPts val="1000"/>
              </a:spcAft>
            </a:pPr>
            <a:r>
              <a:rPr sz="1600" b="1">
                <a:solidFill>
                  <a:srgbClr val="1B6EC2"/>
                </a:solidFill>
              </a:rPr>
              <a:t>•  </a:t>
            </a:r>
            <a:r>
              <a:rPr sz="1600">
                <a:solidFill>
                  <a:srgbClr val="1F2D3D"/>
                </a:solidFill>
              </a:rPr>
              <a:t>Result: 0.94 ± 0.04 m — the most pessimistic, most trustworthy number</a:t>
            </a:r>
          </a:p>
        </p:txBody>
      </p:sp>
      <p:pic>
        <p:nvPicPr>
          <p:cNvPr id="4" name="Picture 3" descr="nested_cv.png"/>
          <p:cNvPicPr>
            <a:picLocks noChangeAspect="1"/>
          </p:cNvPicPr>
          <p:nvPr/>
        </p:nvPicPr>
        <p:blipFill>
          <a:blip r:embed="rId2"/>
          <a:stretch>
            <a:fillRect/>
          </a:stretch>
        </p:blipFill>
        <p:spPr>
          <a:xfrm>
            <a:off x="2436876" y="2651760"/>
            <a:ext cx="73152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We caught our own overfitting: 0.650 m was a mirage, 0.752 m is the honest headline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we refused to report</a:t>
            </a:r>
          </a:p>
          <a:p>
            <a:pPr>
              <a:spcAft>
                <a:spcPts val="1000"/>
              </a:spcAft>
            </a:pPr>
            <a:r>
              <a:rPr sz="1600" b="1">
                <a:solidFill>
                  <a:srgbClr val="1B6EC2"/>
                </a:solidFill>
              </a:rPr>
              <a:t>•  </a:t>
            </a:r>
            <a:r>
              <a:rPr sz="1600">
                <a:solidFill>
                  <a:srgbClr val="1F2D3D"/>
                </a:solidFill>
              </a:rPr>
              <a:t>Strictest leak-free nested 5-fold CV (4/5 data per fold) = 0.94 ± 0.04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778259" y="2651760"/>
            <a:ext cx="8632433"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Honest 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an honest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Honesty is the result: exposed a 0.650 m mirage, reported 0.94 m nested-CV</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