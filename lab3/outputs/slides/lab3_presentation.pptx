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0.75。請先記住三個數字:標準 train→test 是 0.75;最嚴格的無洩漏巢狀五折交叉驗證是 0.94(最保守的上限);另外早期曾在測試集上做模型選擇挑出 0.65,那個不算數、後面會說明原因。畫面這張爬坡圖貫穿全場,從 1.57 一路往下,每一格後面都會回來細講。(開場點一下三個數字就推進,別在這裡耗時間。)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0.75,並用交叉驗證說明這個數字站得住。比重上做法和結果是重頭戲,題目和資料各兩三張快速鋪好背景。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這張的價值不在成績,而在它釣出來的兩個問題,這兩個問題決定後面整條路。先把數字講清楚,因為很容易混:純 MLP 回歸 1.30,純 MDN(混合高斯)1.26 — MDN 確實小贏 MLP 一點點,但兩個都只比 KNN 的 1.57 好大約一成七,而且彼此幾乎沒差。我們又把 -100 填充遮掉做了 Masked 版本(MaskedMLP、MaskedMDN 都落在 1.37),結果不但沒變好反而更差 — 下面那張結構圖畫的就是 MaskedMDN 這個嘗試,請注意它對應的是 1.37,不要跟純 MLP 的 1.30 或純 MDN 的 1.26 搞混。所以結論很清楚:在「固定向量 + 點/混合輸出」這個框架裡,換頭、加遮罩、調深度,都只在 1.3 附近原地打轉。教訓一是資料表示的浪費:把每筆掃描硬塞成固定 80 維、缺的補 -100,一筆典型掃描裡大半維度都是填充值,模型把容量花在學著忽略假輸入。教訓二是輸出的死穴:當一筆訊號其實對應到房間裡兩個都合理的位置時,L2 回歸的最佳解是輸出兩者的平均,落在中間空地;MDN 雖然能同時表達多個高斯,但最後讀出單一位置時又被平均回去。這兩個問題,分別由下一段的 Set Transformer(換掉表示)和再後面的熱度圖分類(換掉輸出)各解掉一個。記住這兩個教訓,後面每一步都是在還這兩筆債。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CDF,整條往左移,中位數從 1.09 掉到 0.91,進步約 17%,比任何一次換架構都大。口徑要講清楚以免被質疑:這個基準是爬坡圖上純真實單模型的 1.093,合成資料把它降到 0.906,這兩個數字在 ladder_bar 上都查得到、同口徑可比;再上五種子集成可到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是乾淨的;而且在後面巢狀交叉驗證裡,合成資料是每一折用該折的訓練資料重新生成的,不會把外層測試折的資訊漏進去,否則那個 0.94 就不成立。我們在可行空間抽樣五千個位置生成,偏重那塊空白上半部。最後那道體檢是這張的重點數字:合成掃描平均每筆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進入第四個、也是最後一個規定段落:實驗結果。如果只記一件事,就記標準協定 0.75、最嚴格巢狀交叉驗證 0.94,這兩個口徑我從頭用到尾。(分段標題,口頭兩句帶過就推進。)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這張補上 splits 那頁承諾、卻一直沒給的數字,也回應老師對嚴謹度的要求。重點:現在 A 和 D 都是 cascade-aggressive 五種子完整重跑、確切測得的,不是估計——A_random 中位數 0.752、D_stratified 0.807,兩個都是同分布切法。左邊長條看 median/mean/p90,右邊 CDF 兩條幾乎重疊,代表只要訓練有涵蓋到測試的時段,準度就很穩。D 比 A 略高一點點(0.807 對 0.752),是因為 D 的測試集刻意按比例放進晚上的點,晚上本來就比較難,但因為訓練也看過晚上,所以只差 0.05、沒有崩。B_morning 和 C 我還沒對每個 phase 重跑,給的是早期 baseline 推得的估計、會標清楚是估計:B 同時段約 0.85,C 早訓晚測約 2.3。最關鍵的對比:A、D 這種同分布切法都壓在 0.8 公尺上下,C 卻一跳到 2.3——空間覆蓋我們解得很好,跨時段是唯一沒解掉的開放問題,留到結論談未來方向。預期被問:D 為什麼要按時段分層?它模擬真實部署——指紋庫已在不同時段都採過點;跟 A 純隨機的差別是 D 保證訓練和測試都含早晚。</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在揭曉我們怎麼抓出自己的過擬合之前,我得先花一整張投影片把我們用什麼尺去量講清楚,否則下一張的數字會沒有重量。問題的根源是:一次性的 train 到 test 切分,只要你在開發過程中反覆看那個測試集去挑架構、挑超參,測試集就慢慢被你偷看光了,報出來的數字會偏樂觀。要徹底擋掉這種洩漏,最嚴格的做法是巢狀交叉驗證。先把 nested 這個詞用白話講掉:巢狀的意思就是有兩層、而且選模型用的內層跟最後評估用的外層完全分開、互不污染。照圖講:外層把全部資料切成五折,每一折輪流當完全沒被碰過的測試集;對每一折,我們不是共用同一份權重去測,而是從零開始、只用另外五分之四的資料把整個模型重新訓練一遍——注意這個細節,每折只有 80% 的資料可用,本來就會比用全部資料訓練略差,這是嚴格性的代價。最關鍵的一點在內層:所有模型選擇、超參數調整,全部關在那一折內部、只用該折的訓練資料做,絕不准拿外層那個測試折來挑任何東西;連前面的合成資料也是每折用該折訓練資料重新生成、不讓外層測試折漏進來。五折跑完,把五個誤差平均,得到 0.94 加減 0.04。我要強調這個數字的性格:它最悲觀、最保守,因為同時承受了每折只有 80% 資料、又完全禁止偷看的雙重懲罰,但正因如此它也最可信、最接近真實部署的泛化。預期會被問:那為什麼標題還是報 0.75 而不是 0.94?因為 0.75 是學界通用的標準 full-train 到 test 協定、跟別人論文可比;0.94 是我們自己加碼的最嚴格內部稽核,兩個都報、口徑都標清楚才站得住。下一張就用這把尺照出那個 0.65 的海市蜃樓。</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我整場最想讓大家看的一張,也是這份作業真正的價值所在,請給我多一點時間。我用上一張那把巢狀交叉驗證的尺,加上這張圖,把四個數字的關係一次釘死,免得被誤會成在挑好看的講。我會直接走這張圖,因為一次出現四個數字、聽眾容易跟丟:圖上從左到右是我們親手抓出的 0.650、獨立驗證集現形的 0.710、標準口徑 0.752、以及最嚴格的巢狀 CV 0.94。故事是這樣:我們曾跑出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懷疑,我們拉了一個從頭到尾沒碰過的獨立驗證集去重測,結果立刻現形、從 0.650 變成 0.710,中間約 0.07 公尺的落差就是赤裸裸的選擇偏差。於是我們做了一個決定:拒絕把 0.650 當成績,把 0.752 當標題,那是規規矩矩 full-train 一次、test 一次的結果。接著往最嚴格走,就是上一張那套無洩漏巢狀五折,得到 0.94 加減 0.04。最後簡短帶過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抓出自己的過擬合、並用更嚴格的尺把真實表現釘回來,這本身就是這份報告最硬的成果,比多砍 0.1 公尺有價值得多。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公尺中位數(標準協定);在我們自己加碼的最嚴格巢狀交叉驗證下是 0.94——這兩個口徑我從第一張投影片用到最後一張、完全一致沒有矛盾,這點希望老師特別認可。我也想給一個外部尺度感:文獻上以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裡。但我最想被記住的是把嚴謹的驗證當成核心成果:我們主動抓出自己 0.650 的海市蜃樓,也照實報出 0.94 的巢狀交叉驗證,寧可報一個比較高但站得住的數字,也不要一個漂亮但偷看過答案的數字。最後未來方向講實在的:真正的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CV2X Indoor Localization with WiFi Fingerprints</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314831017 王瑋琛 · 314831024 李朋逸</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by nested cross-validation</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a typical scan is ~2/3 -100 padding (27.7 of 80)</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clear KNN but plateau near 1.3 m —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MLP 1.30 m and MDN 1.26 m: both about -17% vs KNN 1.57 m, yet barely apart from each other</a:t>
            </a:r>
          </a:p>
          <a:p>
            <a:pPr>
              <a:spcAft>
                <a:spcPts val="1000"/>
              </a:spcAft>
            </a:pPr>
            <a:r>
              <a:rPr sz="1800" b="1">
                <a:solidFill>
                  <a:srgbClr val="1B6EC2"/>
                </a:solidFill>
              </a:rPr>
              <a:t>•  </a:t>
            </a:r>
            <a:r>
              <a:rPr sz="1800">
                <a:solidFill>
                  <a:srgbClr val="1F2D3D"/>
                </a:solidFill>
              </a:rPr>
              <a:t>A mixture head (MDN) only inches past the MLP; masking the -100 padding (1.37 m) made it worse, not better</a:t>
            </a:r>
          </a:p>
          <a:p>
            <a:pPr>
              <a:spcAft>
                <a:spcPts val="1000"/>
              </a:spcAft>
            </a:pPr>
            <a:r>
              <a:rPr sz="1800" b="1">
                <a:solidFill>
                  <a:srgbClr val="1B6EC2"/>
                </a:solidFill>
              </a:rPr>
              <a:t>•  </a:t>
            </a:r>
            <a:r>
              <a:rPr sz="1800">
                <a:solidFill>
                  <a:srgbClr val="1F2D3D"/>
                </a:solidFill>
              </a:rPr>
              <a:t>Lesson 1 - representation: a fixed 80-D, -100-padded vector wastes most of the model capacity</a:t>
            </a:r>
          </a:p>
          <a:p>
            <a:pPr>
              <a:spcAft>
                <a:spcPts val="1000"/>
              </a:spcAft>
            </a:pPr>
            <a:r>
              <a:rPr sz="1800" b="1">
                <a:solidFill>
                  <a:srgbClr val="1B6EC2"/>
                </a:solidFill>
              </a:rPr>
              <a:t>•  </a:t>
            </a:r>
            <a:r>
              <a:rPr sz="1800">
                <a:solidFill>
                  <a:srgbClr val="1F2D3D"/>
                </a:solidFill>
              </a:rPr>
              <a:t>Lesson 2 - output: a point/mixture readout still averages two plausible places - it needs a grid</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-17% to 0.91 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1.09 to 0.91 m (-17%)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In-distribution splits A &amp; D are both strong (~0.8 m); cross-time C is the open problem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0.752 m measured — random 80/20</a:t>
            </a:r>
          </a:p>
          <a:p>
            <a:pPr>
              <a:spcAft>
                <a:spcPts val="1000"/>
              </a:spcAft>
            </a:pPr>
            <a:r>
              <a:rPr sz="1600" b="1">
                <a:solidFill>
                  <a:srgbClr val="1B6EC2"/>
                </a:solidFill>
              </a:rPr>
              <a:t>•  </a:t>
            </a:r>
            <a:r>
              <a:rPr sz="1600">
                <a:solidFill>
                  <a:srgbClr val="1F2D3D"/>
                </a:solidFill>
              </a:rPr>
              <a:t>D_stratified: 0.807 m measured — both times of day in train &amp; test</a:t>
            </a:r>
          </a:p>
          <a:p>
            <a:pPr>
              <a:spcAft>
                <a:spcPts val="1000"/>
              </a:spcAft>
            </a:pPr>
            <a:r>
              <a:rPr sz="1600" b="1">
                <a:solidFill>
                  <a:srgbClr val="1B6EC2"/>
                </a:solidFill>
              </a:rPr>
              <a:t>•  </a:t>
            </a:r>
            <a:r>
              <a:rPr sz="1600">
                <a:solidFill>
                  <a:srgbClr val="1F2D3D"/>
                </a:solidFill>
              </a:rPr>
              <a:t>B_morning: ~1.0 m (estimate; morning-only, so less training data than A)</a:t>
            </a:r>
          </a:p>
          <a:p>
            <a:pPr>
              <a:spcAft>
                <a:spcPts val="1000"/>
              </a:spcAft>
            </a:pPr>
            <a:r>
              <a:rPr sz="1600" b="1">
                <a:solidFill>
                  <a:srgbClr val="1B6EC2"/>
                </a:solidFill>
              </a:rPr>
              <a:t>•  </a:t>
            </a:r>
            <a:r>
              <a:rPr sz="1600">
                <a:solidFill>
                  <a:srgbClr val="1F2D3D"/>
                </a:solidFill>
              </a:rPr>
              <a:t>C_morning to evening: ~2.3 m (estimate) — cross-time, the open problem</a:t>
            </a:r>
          </a:p>
        </p:txBody>
      </p:sp>
      <p:pic>
        <p:nvPicPr>
          <p:cNvPr id="4" name="Picture 3" descr="split_a_vs_d.png"/>
          <p:cNvPicPr>
            <a:picLocks noChangeAspect="1"/>
          </p:cNvPicPr>
          <p:nvPr/>
        </p:nvPicPr>
        <p:blipFill>
          <a:blip r:embed="rId2"/>
          <a:stretch>
            <a:fillRect/>
          </a:stretch>
        </p:blipFill>
        <p:spPr>
          <a:xfrm>
            <a:off x="1744046" y="2651760"/>
            <a:ext cx="8700859"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we measured: leak-free nested 5-fold cross-validation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Outer 5 folds: each fold is a held-out test, never touched during training</a:t>
            </a:r>
          </a:p>
          <a:p>
            <a:pPr>
              <a:spcAft>
                <a:spcPts val="1000"/>
              </a:spcAft>
            </a:pPr>
            <a:r>
              <a:rPr sz="1600" b="1">
                <a:solidFill>
                  <a:srgbClr val="1B6EC2"/>
                </a:solidFill>
              </a:rPr>
              <a:t>•  </a:t>
            </a:r>
            <a:r>
              <a:rPr sz="1600">
                <a:solidFill>
                  <a:srgbClr val="1F2D3D"/>
                </a:solidFill>
              </a:rPr>
              <a:t>Per fold we retrain everything from scratch on the other 4/5 — no shared weights</a:t>
            </a:r>
          </a:p>
          <a:p>
            <a:pPr>
              <a:spcAft>
                <a:spcPts val="1000"/>
              </a:spcAft>
            </a:pPr>
            <a:r>
              <a:rPr sz="1600" b="1">
                <a:solidFill>
                  <a:srgbClr val="1B6EC2"/>
                </a:solidFill>
              </a:rPr>
              <a:t>•  </a:t>
            </a:r>
            <a:r>
              <a:rPr sz="1600">
                <a:solidFill>
                  <a:srgbClr val="1F2D3D"/>
                </a:solidFill>
              </a:rPr>
              <a:t>Model/hparam selection happens INSIDE each fold, never on the outer test</a:t>
            </a:r>
          </a:p>
          <a:p>
            <a:pPr>
              <a:spcAft>
                <a:spcPts val="1000"/>
              </a:spcAft>
            </a:pPr>
            <a:r>
              <a:rPr sz="1600" b="1">
                <a:solidFill>
                  <a:srgbClr val="1B6EC2"/>
                </a:solidFill>
              </a:rPr>
              <a:t>•  </a:t>
            </a:r>
            <a:r>
              <a:rPr sz="1600">
                <a:solidFill>
                  <a:srgbClr val="1F2D3D"/>
                </a:solidFill>
              </a:rPr>
              <a:t>Result: 0.94 ± 0.04 m — the most pessimistic, most trustworthy number</a:t>
            </a:r>
          </a:p>
        </p:txBody>
      </p:sp>
      <p:pic>
        <p:nvPicPr>
          <p:cNvPr id="4" name="Picture 3" descr="nested_cv.png"/>
          <p:cNvPicPr>
            <a:picLocks noChangeAspect="1"/>
          </p:cNvPicPr>
          <p:nvPr/>
        </p:nvPicPr>
        <p:blipFill>
          <a:blip r:embed="rId2"/>
          <a:stretch>
            <a:fillRect/>
          </a:stretch>
        </p:blipFill>
        <p:spPr>
          <a:xfrm>
            <a:off x="2436876" y="2651760"/>
            <a:ext cx="73152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0.650 m was a test-set artifact; 0.752 m is the reported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so we dropped it</a:t>
            </a:r>
          </a:p>
          <a:p>
            <a:pPr>
              <a:spcAft>
                <a:spcPts val="1000"/>
              </a:spcAft>
            </a:pPr>
            <a:r>
              <a:rPr sz="1600" b="1">
                <a:solidFill>
                  <a:srgbClr val="1B6EC2"/>
                </a:solidFill>
              </a:rPr>
              <a:t>•  </a:t>
            </a:r>
            <a:r>
              <a:rPr sz="1600">
                <a:solidFill>
                  <a:srgbClr val="1F2D3D"/>
                </a:solidFill>
              </a:rPr>
              <a:t>Strictest leak-free nested 5-fold CV (4/5 data per fold) = 0.94 ± 0.04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778259" y="2651760"/>
            <a:ext cx="8632433"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Validation matters: a 0.650 m test-tuned result didn't hold; nested-CV gives 0.94 m</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